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3fe158f10144ed" /><Relationship Type="http://schemas.openxmlformats.org/officeDocument/2006/relationships/extended-properties" Target="/docProps/app.xml" Id="R05d97c076bf0409a" /><Relationship Type="http://schemas.openxmlformats.org/officeDocument/2006/relationships/officeDocument" Target="/ppt/presentation.xml" Id="Rd345ab8c587945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359c67ff734f8f"/>
  </p:sldMasterIdLst>
  <p:notesMasterIdLst>
    <p:notesMasterId xmlns:r="http://schemas.openxmlformats.org/officeDocument/2006/relationships" r:id="R6311a542f9014050"/>
  </p:notesMasterIdLst>
  <p:sldIdLst>
    <p:sldId xmlns:r="http://schemas.openxmlformats.org/officeDocument/2006/relationships" id="256" r:id="R08fd2ae7d9aa4b98"/>
    <p:sldId xmlns:r="http://schemas.openxmlformats.org/officeDocument/2006/relationships" id="257" r:id="R9ab2febd118a4a03"/>
    <p:sldId xmlns:r="http://schemas.openxmlformats.org/officeDocument/2006/relationships" id="258" r:id="Rbd6f7e71f85d463d"/>
    <p:sldId xmlns:r="http://schemas.openxmlformats.org/officeDocument/2006/relationships" id="259" r:id="R3e3a8dadabb947d1"/>
    <p:sldId xmlns:r="http://schemas.openxmlformats.org/officeDocument/2006/relationships" id="260" r:id="Rb488f942d08f4714"/>
    <p:sldId xmlns:r="http://schemas.openxmlformats.org/officeDocument/2006/relationships" id="261" r:id="R2358b8850c2a413d"/>
    <p:sldId xmlns:r="http://schemas.openxmlformats.org/officeDocument/2006/relationships" id="262" r:id="R035a146fa0cf4859"/>
    <p:sldId xmlns:r="http://schemas.openxmlformats.org/officeDocument/2006/relationships" id="263" r:id="Ra20f7a8e1f374b33"/>
    <p:sldId xmlns:r="http://schemas.openxmlformats.org/officeDocument/2006/relationships" id="264" r:id="R6958d8b654534186"/>
    <p:sldId xmlns:r="http://schemas.openxmlformats.org/officeDocument/2006/relationships" id="265" r:id="Re6ca95e1c0554c8b"/>
    <p:sldId xmlns:r="http://schemas.openxmlformats.org/officeDocument/2006/relationships" id="266" r:id="R8646fe42308448b4"/>
    <p:sldId xmlns:r="http://schemas.openxmlformats.org/officeDocument/2006/relationships" id="267" r:id="R8c1f552ab8d741dc"/>
    <p:sldId xmlns:r="http://schemas.openxmlformats.org/officeDocument/2006/relationships" id="268" r:id="R7aac39df6d824e3b"/>
    <p:sldId xmlns:r="http://schemas.openxmlformats.org/officeDocument/2006/relationships" id="269" r:id="R3b7fe6625fb046bc"/>
    <p:sldId xmlns:r="http://schemas.openxmlformats.org/officeDocument/2006/relationships" id="270" r:id="Re6fd06c6c609458f"/>
    <p:sldId xmlns:r="http://schemas.openxmlformats.org/officeDocument/2006/relationships" id="271" r:id="Rb61e002c1dc843cb"/>
    <p:sldId xmlns:r="http://schemas.openxmlformats.org/officeDocument/2006/relationships" id="272" r:id="R2f9ba3c0f74d407e"/>
    <p:sldId xmlns:r="http://schemas.openxmlformats.org/officeDocument/2006/relationships" id="273" r:id="Rc79bfd6b442f40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f575060a2940bc" /><Relationship Type="http://schemas.openxmlformats.org/officeDocument/2006/relationships/slideMaster" Target="/ppt/slideMasters/slideMaster1.xml" Id="R3b359c67ff734f8f" /><Relationship Type="http://schemas.openxmlformats.org/officeDocument/2006/relationships/notesMaster" Target="/ppt/notesMasters/notesMaster1.xml" Id="R6311a542f9014050" /><Relationship Type="http://schemas.openxmlformats.org/officeDocument/2006/relationships/presProps" Target="/ppt/presProps.xml" Id="R3037c5104f3f4785" /><Relationship Type="http://schemas.openxmlformats.org/officeDocument/2006/relationships/tableStyles" Target="/ppt/tableStyles.xml" Id="Rb80023aef5a14ee0" /><Relationship Type="http://schemas.openxmlformats.org/officeDocument/2006/relationships/slide" Target="/ppt/slides/slide1.xml" Id="R08fd2ae7d9aa4b98" /><Relationship Type="http://schemas.openxmlformats.org/officeDocument/2006/relationships/slide" Target="/ppt/slides/slide2.xml" Id="R9ab2febd118a4a03" /><Relationship Type="http://schemas.openxmlformats.org/officeDocument/2006/relationships/slide" Target="/ppt/slides/slide3.xml" Id="Rbd6f7e71f85d463d" /><Relationship Type="http://schemas.openxmlformats.org/officeDocument/2006/relationships/slide" Target="/ppt/slides/slide4.xml" Id="R3e3a8dadabb947d1" /><Relationship Type="http://schemas.openxmlformats.org/officeDocument/2006/relationships/slide" Target="/ppt/slides/slide5.xml" Id="Rb488f942d08f4714" /><Relationship Type="http://schemas.openxmlformats.org/officeDocument/2006/relationships/slide" Target="/ppt/slides/slide6.xml" Id="R2358b8850c2a413d" /><Relationship Type="http://schemas.openxmlformats.org/officeDocument/2006/relationships/slide" Target="/ppt/slides/slide7.xml" Id="R035a146fa0cf4859" /><Relationship Type="http://schemas.openxmlformats.org/officeDocument/2006/relationships/slide" Target="/ppt/slides/slide8.xml" Id="Ra20f7a8e1f374b33" /><Relationship Type="http://schemas.openxmlformats.org/officeDocument/2006/relationships/slide" Target="/ppt/slides/slide9.xml" Id="R6958d8b654534186" /><Relationship Type="http://schemas.openxmlformats.org/officeDocument/2006/relationships/slide" Target="/ppt/slides/slide10.xml" Id="Re6ca95e1c0554c8b" /><Relationship Type="http://schemas.openxmlformats.org/officeDocument/2006/relationships/slide" Target="/ppt/slides/slide11.xml" Id="R8646fe42308448b4" /><Relationship Type="http://schemas.openxmlformats.org/officeDocument/2006/relationships/slide" Target="/ppt/slides/slide12.xml" Id="R8c1f552ab8d741dc" /><Relationship Type="http://schemas.openxmlformats.org/officeDocument/2006/relationships/slide" Target="/ppt/slides/slide13.xml" Id="R7aac39df6d824e3b" /><Relationship Type="http://schemas.openxmlformats.org/officeDocument/2006/relationships/slide" Target="/ppt/slides/slide14.xml" Id="R3b7fe6625fb046bc" /><Relationship Type="http://schemas.openxmlformats.org/officeDocument/2006/relationships/slide" Target="/ppt/slides/slide15.xml" Id="Re6fd06c6c609458f" /><Relationship Type="http://schemas.openxmlformats.org/officeDocument/2006/relationships/slide" Target="/ppt/slides/slide16.xml" Id="Rb61e002c1dc843cb" /><Relationship Type="http://schemas.openxmlformats.org/officeDocument/2006/relationships/slide" Target="/ppt/slides/slide17.xml" Id="R2f9ba3c0f74d407e" /><Relationship Type="http://schemas.openxmlformats.org/officeDocument/2006/relationships/slide" Target="/ppt/slides/slide18.xml" Id="Rc79bfd6b442f40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4b601a3cf043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2f6a3a7f5344c6" /><Relationship Type="http://schemas.openxmlformats.org/officeDocument/2006/relationships/notesMaster" Target="/ppt/notesMasters/notesMaster1.xml" Id="R33c81bfc08f441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77c6bd54f34f36" /><Relationship Type="http://schemas.openxmlformats.org/officeDocument/2006/relationships/notesMaster" Target="/ppt/notesMasters/notesMaster1.xml" Id="R7745cdb4d6da4c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aa6097b21546a3" /><Relationship Type="http://schemas.openxmlformats.org/officeDocument/2006/relationships/notesMaster" Target="/ppt/notesMasters/notesMaster1.xml" Id="R27448e2849f540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b912db41d44749" /><Relationship Type="http://schemas.openxmlformats.org/officeDocument/2006/relationships/notesMaster" Target="/ppt/notesMasters/notesMaster1.xml" Id="Rdcdad82eaae94b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73ec919b374cef" /><Relationship Type="http://schemas.openxmlformats.org/officeDocument/2006/relationships/notesMaster" Target="/ppt/notesMasters/notesMaster1.xml" Id="R77f480a5301a45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7b24a890fe4f43" /><Relationship Type="http://schemas.openxmlformats.org/officeDocument/2006/relationships/notesMaster" Target="/ppt/notesMasters/notesMaster1.xml" Id="Rad35dbedd04741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4e2c51d176480a" /><Relationship Type="http://schemas.openxmlformats.org/officeDocument/2006/relationships/notesMaster" Target="/ppt/notesMasters/notesMaster1.xml" Id="Rcdadf6e2342648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26f125184c4a44" /><Relationship Type="http://schemas.openxmlformats.org/officeDocument/2006/relationships/notesMaster" Target="/ppt/notesMasters/notesMaster1.xml" Id="Ra3ffe2e20f894a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71621830924323" /><Relationship Type="http://schemas.openxmlformats.org/officeDocument/2006/relationships/notesMaster" Target="/ppt/notesMasters/notesMaster1.xml" Id="Rd86b2ff708f342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3de49babdf495e" /><Relationship Type="http://schemas.openxmlformats.org/officeDocument/2006/relationships/notesMaster" Target="/ppt/notesMasters/notesMaster1.xml" Id="R6f4b98f4a4654e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06825fe4754878" /><Relationship Type="http://schemas.openxmlformats.org/officeDocument/2006/relationships/notesMaster" Target="/ppt/notesMasters/notesMaster1.xml" Id="R97cc153c5f5f46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dccfb7cb91438f" /><Relationship Type="http://schemas.openxmlformats.org/officeDocument/2006/relationships/notesMaster" Target="/ppt/notesMasters/notesMaster1.xml" Id="Rb1ea6fd9f99a47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bb4335ebe64e82" /><Relationship Type="http://schemas.openxmlformats.org/officeDocument/2006/relationships/notesMaster" Target="/ppt/notesMasters/notesMaster1.xml" Id="R709440c39b0f41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4270f58f154071" /><Relationship Type="http://schemas.openxmlformats.org/officeDocument/2006/relationships/notesMaster" Target="/ppt/notesMasters/notesMaster1.xml" Id="R1d3192600d5244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b6c343a6b34945" /><Relationship Type="http://schemas.openxmlformats.org/officeDocument/2006/relationships/notesMaster" Target="/ppt/notesMasters/notesMaster1.xml" Id="Rb8429e4a5f884c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d478b64c584cd4" /><Relationship Type="http://schemas.openxmlformats.org/officeDocument/2006/relationships/notesMaster" Target="/ppt/notesMasters/notesMaster1.xml" Id="R7557f43aa97e44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2cc0b5bf87c4784" /><Relationship Type="http://schemas.openxmlformats.org/officeDocument/2006/relationships/notesMaster" Target="/ppt/notesMasters/notesMaster1.xml" Id="R4895f6bd798947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501a78846c74135" /><Relationship Type="http://schemas.openxmlformats.org/officeDocument/2006/relationships/notesMaster" Target="/ppt/notesMasters/notesMaster1.xml" Id="R04c3f1d333f146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f2729cff344b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ee6483bc974161" /><Relationship Type="http://schemas.openxmlformats.org/officeDocument/2006/relationships/slideLayout" Target="/ppt/slideLayouts/slideLayout1.xml" Id="R3466ffe7aff94c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66ffe7aff94c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419c02b7d4267" /><Relationship Type="http://schemas.openxmlformats.org/officeDocument/2006/relationships/notesSlide" Target="/ppt/notesSlides/notesSlide1.xml" Id="R4904a92562884a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61cee119b434d" /><Relationship Type="http://schemas.openxmlformats.org/officeDocument/2006/relationships/notesSlide" Target="/ppt/notesSlides/notesSlide2.xml" Id="Rfabeecca31be4b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0b44a363c4cd2" /><Relationship Type="http://schemas.openxmlformats.org/officeDocument/2006/relationships/notesSlide" Target="/ppt/notesSlides/notesSlide3.xml" Id="R7e99aedb2ee44f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407f6b83546e6" /><Relationship Type="http://schemas.openxmlformats.org/officeDocument/2006/relationships/notesSlide" Target="/ppt/notesSlides/notesSlide4.xml" Id="R9253ce90a0fa45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3fcfe1b5d4237" /><Relationship Type="http://schemas.openxmlformats.org/officeDocument/2006/relationships/notesSlide" Target="/ppt/notesSlides/notesSlide5.xml" Id="R47e14534c16943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1d3a9fe734916" /><Relationship Type="http://schemas.openxmlformats.org/officeDocument/2006/relationships/notesSlide" Target="/ppt/notesSlides/notesSlide6.xml" Id="R22f785ec94e14b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04c0458214f3f" /><Relationship Type="http://schemas.openxmlformats.org/officeDocument/2006/relationships/notesSlide" Target="/ppt/notesSlides/notesSlide7.xml" Id="Ra2af36c1e0474c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287ea2c6e4520" /><Relationship Type="http://schemas.openxmlformats.org/officeDocument/2006/relationships/notesSlide" Target="/ppt/notesSlides/notesSlide8.xml" Id="R4e907ddf7ff644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4aa639d8d4162" /><Relationship Type="http://schemas.openxmlformats.org/officeDocument/2006/relationships/notesSlide" Target="/ppt/notesSlides/notesSlide9.xml" Id="R9a65ad84e9a647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d2828974e4502" /><Relationship Type="http://schemas.openxmlformats.org/officeDocument/2006/relationships/notesSlide" Target="/ppt/notesSlides/notesSlide10.xml" Id="Re27a2da597674f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07c6dee9f4a3b" /><Relationship Type="http://schemas.openxmlformats.org/officeDocument/2006/relationships/notesSlide" Target="/ppt/notesSlides/notesSlide11.xml" Id="R195488b3718d4c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1f47a5db843ec" /><Relationship Type="http://schemas.openxmlformats.org/officeDocument/2006/relationships/notesSlide" Target="/ppt/notesSlides/notesSlide12.xml" Id="R3cd7cd53bbcc4b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c9d236667419f" /><Relationship Type="http://schemas.openxmlformats.org/officeDocument/2006/relationships/notesSlide" Target="/ppt/notesSlides/notesSlide13.xml" Id="Rbf46877fca774a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4984667cc448b" /><Relationship Type="http://schemas.openxmlformats.org/officeDocument/2006/relationships/notesSlide" Target="/ppt/notesSlides/notesSlide14.xml" Id="Rf81f196f05cd42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9074a553448fa" /><Relationship Type="http://schemas.openxmlformats.org/officeDocument/2006/relationships/notesSlide" Target="/ppt/notesSlides/notesSlide15.xml" Id="Rcbcc79e8069448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96bbbe77a4f30" /><Relationship Type="http://schemas.openxmlformats.org/officeDocument/2006/relationships/notesSlide" Target="/ppt/notesSlides/notesSlide16.xml" Id="R368ad485ed54417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06c66dfb9428c" /><Relationship Type="http://schemas.openxmlformats.org/officeDocument/2006/relationships/notesSlide" Target="/ppt/notesSlides/notesSlide17.xml" Id="R8abcee56870843a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410f6fc764815" /><Relationship Type="http://schemas.openxmlformats.org/officeDocument/2006/relationships/notesSlide" Target="/ppt/notesSlides/notesSlide18.xml" Id="R84d1aa86c77a43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84876-DDE5-4493-A8F1-1569529E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5562600"/>
          </a:xfrm>
          <a:prstGeom xmlns:a="http://schemas.openxmlformats.org/drawingml/2006/main" prst="roundRect">
            <a:avLst>
              <a:gd name="adj" fmla="val 13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D71F9-D1D6-4A81-A9B8-C3098F05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52D9"/>
                </a:solidFill>
              </a:defRPr>
            </a:pPr>
            <a:r>
              <a:rPr sz="1950" b="1">
                <a:solidFill>
                  <a:srgbClr val="0052D9"/>
                </a:solidFill>
              </a:rPr>
              <a:t>体系认证平台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E9EB1-40EE-4A9B-AE8B-E9D6BD97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F2329"/>
                </a:solidFill>
              </a:defRPr>
            </a:pPr>
            <a:r>
              <a:rPr sz="4650" b="1">
                <a:solidFill>
                  <a:srgbClr val="1F2329"/>
                </a:solidFill>
              </a:rPr>
              <a:t>需求说明书讲解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9BD75-A4EB-4021-B4DC-12539335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3"/>
                </a:solidFill>
              </a:defRPr>
            </a:pPr>
            <a:r>
              <a:rPr sz="1875" b="0">
                <a:solidFill>
                  <a:srgbClr val="5F6673"/>
                </a:solidFill>
              </a:rPr>
              <a:t>面向开发人员和测试人员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AD39C-A1ED-4B7A-97D8-D01CAEC1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3"/>
                </a:solidFill>
              </a:defRPr>
            </a:pPr>
            <a:r>
              <a:rPr sz="1650" b="0">
                <a:solidFill>
                  <a:srgbClr val="5F6673"/>
                </a:solidFill>
              </a:rPr>
              <a:t>基于“认证决定补充版”重新梳理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91F49-FB88-4388-B688-A27023E2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6286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A5EBC-0840-4877-965D-BCAD78F2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QMS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C54BF-CA92-4846-B48C-E6B6FB52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91000"/>
            <a:ext cx="6286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6F7F1"/>
          </a:solidFill>
          <a:ln xmlns:a="http://schemas.openxmlformats.org/drawingml/2006/main" w="9525">
            <a:solidFill>
              <a:srgbClr val="0087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B074E-26D8-4E11-B498-3FBF91CB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291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75A"/>
                </a:solidFill>
              </a:defRPr>
            </a:pPr>
            <a:r>
              <a:rPr sz="1200" b="1">
                <a:solidFill>
                  <a:srgbClr val="00875A"/>
                </a:solidFill>
              </a:rPr>
              <a:t>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A719E-ADD7-4377-B66F-FF12C0C2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91000"/>
            <a:ext cx="8191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3E5"/>
          </a:solidFill>
          <a:ln xmlns:a="http://schemas.openxmlformats.org/drawingml/2006/main" w="9525">
            <a:solidFill>
              <a:srgbClr val="C46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AA815-F13A-4C43-BDEE-91EE928C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291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6000"/>
                </a:solidFill>
              </a:defRPr>
            </a:pPr>
            <a:r>
              <a:rPr sz="1200" b="1">
                <a:solidFill>
                  <a:srgbClr val="C46000"/>
                </a:solidFill>
              </a:rPr>
              <a:t>OHSMS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E8588-1B66-4245-B292-AF0045D2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91000"/>
            <a:ext cx="685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6339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DACF5-B325-42A8-B2B2-81D7B26E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291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39D8"/>
                </a:solidFill>
              </a:defRPr>
            </a:pPr>
            <a:r>
              <a:rPr sz="1200" b="1">
                <a:solidFill>
                  <a:srgbClr val="6339D8"/>
                </a:solidFill>
              </a:rPr>
              <a:t>FSMS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3A8EF-6BE7-476B-B6B1-5D2B72B8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28700"/>
            <a:ext cx="2381250" cy="4000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F"/>
          </a:solidFill>
          <a:ln xmlns:a="http://schemas.openxmlformats.org/drawingml/2006/main" w="9525">
            <a:solidFill>
              <a:srgbClr val="D9E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1D7BC-31C5-4A99-9534-378F5E81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62100"/>
            <a:ext cx="1695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F2329"/>
                </a:solidFill>
              </a:defRPr>
            </a:pPr>
            <a:r>
              <a:rPr sz="2850" b="1">
                <a:solidFill>
                  <a:srgbClr val="1F2329"/>
                </a:solidFill>
              </a:rPr>
              <a:t>先对齐业务对象、状态和权限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40F9E-67E7-48AC-B95D-FF0AB0B9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90950"/>
            <a:ext cx="1695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52D9"/>
                </a:solidFill>
              </a:defRPr>
            </a:pPr>
            <a:r>
              <a:rPr sz="1650" b="1">
                <a:solidFill>
                  <a:srgbClr val="0052D9"/>
                </a:solidFill>
              </a:rPr>
              <a:t>再拆页面、接口和测试用例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B835C-1888-4B84-B8E6-7C0D988D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01</a:t>
            </a:r>
          </a:p>
        </p:txBody>
      </p:sp>
    </p:spTree>
    <p:extLst>
      <p:ext uri="{BB962C8B-B14F-4D97-AF65-F5344CB8AC3E}">
        <p14:creationId xmlns:p14="http://schemas.microsoft.com/office/powerpoint/2010/main" val="2737055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8427F0-896A-4FEE-B07D-A8D52F6C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需求规格说明书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63FA6-A7F0-4EFD-A842-1D33DC62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329"/>
                </a:solidFill>
              </a:defRPr>
            </a:pPr>
            <a:r>
              <a:rPr sz="2700" b="1">
                <a:solidFill>
                  <a:srgbClr val="1F2329"/>
                </a:solidFill>
              </a:rPr>
              <a:t>这份文档的价值是统一落地口径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48792-01DB-4E23-A019-2A047DAC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D61FA-6F2A-41A9-9FBF-962F39D4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952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FED6A-695B-4BEA-A409-EE28746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76200" cy="1924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E2E4E-2E42-44DF-9AA2-87E6D383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76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开发视角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085BA-59EB-40C8-A6BD-89C95621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14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按对象拆任务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1E59E-7A56-4ADB-9E10-F41C5D0E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按状态做接口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3CD85-6D0E-40A4-B079-64F9538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24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按权限控范围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4DF54-E960-4A66-8E15-7BAC6BB8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66900"/>
            <a:ext cx="2952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75064-925A-434C-8DB0-B9C5CEEA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95500"/>
            <a:ext cx="76200" cy="1924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875A"/>
          </a:solidFill>
          <a:ln xmlns:a="http://schemas.openxmlformats.org/drawingml/2006/main" w="9525">
            <a:solidFill>
              <a:srgbClr val="0087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A85E1-13DD-494E-8199-02F68602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76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75A"/>
                </a:solidFill>
              </a:defRPr>
            </a:pPr>
            <a:r>
              <a:rPr sz="1800" b="1">
                <a:solidFill>
                  <a:srgbClr val="00875A"/>
                </a:solidFill>
              </a:rPr>
              <a:t>测试视角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9E604-82EB-478E-BABE-D0938571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14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按流程写用例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6A70C-0C2E-4153-A6C1-0ECC1592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19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按禁用原因验收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D72D6-ABE1-4B69-9339-B01F3FC1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24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按日志追结果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DA968-ABAA-440B-988F-EE7382BE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952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A137C-FF38-4F8C-8175-D0221544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76200" cy="1924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339D8"/>
          </a:solidFill>
          <a:ln xmlns:a="http://schemas.openxmlformats.org/drawingml/2006/main" w="9525">
            <a:solidFill>
              <a:srgbClr val="6339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D0731-9A68-43F5-8ADB-8DEAA937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76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39D8"/>
                </a:solidFill>
              </a:defRPr>
            </a:pPr>
            <a:r>
              <a:rPr sz="1800" b="1">
                <a:solidFill>
                  <a:srgbClr val="6339D8"/>
                </a:solidFill>
              </a:rPr>
              <a:t>业务视角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0ABFFD-1F9E-4A2B-A187-DF2EFA8F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14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材料有统一口径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98C84-7FEB-4201-8B40-7E2EC314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19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问题有统一归属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AB6C9-3131-4338-ADF5-F9E752E6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24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决定有过程记录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8C710A-068A-4901-B124-47769981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讲解目标：让团队能说清楚谁在什么状态下，对哪个对象做什么判断。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9DE8D6-58E6-43AF-9E6A-35AB446C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02</a:t>
            </a:r>
          </a:p>
        </p:txBody>
      </p:sp>
    </p:spTree>
    <p:extLst>
      <p:ext uri="{BB962C8B-B14F-4D97-AF65-F5344CB8AC3E}">
        <p14:creationId xmlns:p14="http://schemas.microsoft.com/office/powerpoint/2010/main" val="15886329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587873-28D5-47E7-8CBF-C3652991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需求规格说明书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B1B03-6767-4133-B1AA-AA97027A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329"/>
                </a:solidFill>
              </a:defRPr>
            </a:pPr>
            <a:r>
              <a:rPr sz="2700" b="1">
                <a:solidFill>
                  <a:srgbClr val="1F2329"/>
                </a:solidFill>
              </a:rPr>
              <a:t>本期主链路包含五个业务模块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424C2-A49F-4FE1-8AC9-0251B6B4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3D882-2F2A-4C49-AD05-50184D5E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3143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CA5FB-4DE4-4444-AFAA-82A9351B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76200" cy="1028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BEE89-12BB-4273-B804-13F40F9C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81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材料归档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7834B-BB16-42B1-9493-EB177236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19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补齐材料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D5051-95AF-44D0-AA3D-3734A623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提交评定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7561B-A299-4D40-87D3-E2880285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处理退回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27788-3151-427E-9ABD-FB0B6A27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71650"/>
            <a:ext cx="3143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FB28B-4875-4F69-8383-E25F5C0F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00250"/>
            <a:ext cx="76200" cy="1028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46000"/>
          </a:solidFill>
          <a:ln xmlns:a="http://schemas.openxmlformats.org/drawingml/2006/main" w="9525">
            <a:solidFill>
              <a:srgbClr val="C46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51900-55E7-4E3F-AA71-0A7C41BD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81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6000"/>
                </a:solidFill>
              </a:defRPr>
            </a:pPr>
            <a:r>
              <a:rPr sz="1800" b="1">
                <a:solidFill>
                  <a:srgbClr val="C46000"/>
                </a:solidFill>
              </a:rPr>
              <a:t>初次评定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3BF7A-E10C-433B-A026-C9AB9186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19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接收任务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63759-8408-40DC-9902-5FEF3F33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24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指派专家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E3D6E-20A6-42E3-97A4-BA2290A8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28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通过或退回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AA25F-7636-4DB7-81DE-EAC528BC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71650"/>
            <a:ext cx="3143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4366A-06CE-45E3-B167-DDC29189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76200" cy="1028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875A"/>
          </a:solidFill>
          <a:ln xmlns:a="http://schemas.openxmlformats.org/drawingml/2006/main" w="9525">
            <a:solidFill>
              <a:srgbClr val="0087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3DFD27-8F77-497F-86D1-30054464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81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75A"/>
                </a:solidFill>
              </a:defRPr>
            </a:pPr>
            <a:r>
              <a:rPr sz="1800" b="1">
                <a:solidFill>
                  <a:srgbClr val="00875A"/>
                </a:solidFill>
              </a:rPr>
              <a:t>专家评定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B1597-D7C6-4C4D-8DF6-9D5B3EE0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19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按授权审阅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58248-A380-433D-B387-4FEAD64C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登记问题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26E0C-AFBA-45D1-8EC5-A913FAF5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28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提交结论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CBC045-FD90-4A5A-870C-A6C5AFA1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29050"/>
            <a:ext cx="3714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F356C3-4C5D-4157-AFB6-E8ED23C5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57650"/>
            <a:ext cx="76200" cy="1028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339D8"/>
          </a:solidFill>
          <a:ln xmlns:a="http://schemas.openxmlformats.org/drawingml/2006/main" w="9525">
            <a:solidFill>
              <a:srgbClr val="6339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1B6D21-23E1-40AD-BA89-448A0F80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38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39D8"/>
                </a:solidFill>
              </a:defRPr>
            </a:pPr>
            <a:r>
              <a:rPr sz="1800" b="1">
                <a:solidFill>
                  <a:srgbClr val="6339D8"/>
                </a:solidFill>
              </a:rPr>
              <a:t>二次评定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FAABD-9E74-47B7-8B48-7D5966DF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76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问题清理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F17833-B2E3-44AC-8BEC-44A0A559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81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体系分流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826FB3-5AF2-4473-9F72-0B57A641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86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最终评定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AF0496-9DEE-4A23-8640-6B44CB99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29050"/>
            <a:ext cx="3714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9C88E4-9FA9-4FC7-BE74-38E66E1D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57650"/>
            <a:ext cx="76200" cy="1028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4D59"/>
          </a:solidFill>
          <a:ln xmlns:a="http://schemas.openxmlformats.org/drawingml/2006/main" w="9525">
            <a:solidFill>
              <a:srgbClr val="E34D5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DEF9FF-6FC4-49A4-B4D4-25B4BA87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38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4D59"/>
                </a:solidFill>
              </a:defRPr>
            </a:pPr>
            <a:r>
              <a:rPr sz="1800" b="1">
                <a:solidFill>
                  <a:srgbClr val="E34D59"/>
                </a:solidFill>
              </a:rPr>
              <a:t>认证决定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4817E7-B58A-4F3C-8281-C1C9410B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76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核对证书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915A0A-8E71-449D-91ED-77D6B8DF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81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查阅材料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DDC81A-9C69-4437-9649-1B8EA61D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86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形成领域结论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37A363-4E49-431D-890A-657181E9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03</a:t>
            </a:r>
          </a:p>
        </p:txBody>
      </p:sp>
    </p:spTree>
    <p:extLst>
      <p:ext uri="{BB962C8B-B14F-4D97-AF65-F5344CB8AC3E}">
        <p14:creationId xmlns:p14="http://schemas.microsoft.com/office/powerpoint/2010/main" val="452455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DFBFD9-3ACB-4F42-AE16-1E896052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需求规格说明书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0BE53-184E-4399-A1CB-A43B12D0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329"/>
                </a:solidFill>
              </a:defRPr>
            </a:pPr>
            <a:r>
              <a:rPr sz="2700" b="1">
                <a:solidFill>
                  <a:srgbClr val="1F2329"/>
                </a:solidFill>
              </a:rPr>
              <a:t>所有模块共用四条全局规则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C2474-39CD-4A08-AFDB-FAD3505F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7180D-B8C7-4C15-BF6C-405E9DB5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981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F1057-0EAD-49FE-9328-A3FC27B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335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52D9"/>
                </a:solidFill>
              </a:defRPr>
            </a:pPr>
            <a:r>
              <a:rPr sz="1875" b="1">
                <a:solidFill>
                  <a:srgbClr val="0052D9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0EE25-3674-49BA-9EEF-61D1E9C5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9335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MSF11-20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7ECF0-D100-4A33-94CE-29B3A3A4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431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3"/>
                </a:solidFill>
              </a:defRPr>
            </a:pPr>
            <a:r>
              <a:rPr sz="1500" b="0">
                <a:solidFill>
                  <a:srgbClr val="5F6673"/>
                </a:solidFill>
              </a:rPr>
              <a:t>材料清单固定 48 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E7826-3E1C-48E7-A6B0-9DF86B41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981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E346B-5F98-43FB-9B2A-FA076B00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479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52D9"/>
                </a:solidFill>
              </a:defRPr>
            </a:pPr>
            <a:r>
              <a:rPr sz="1875" b="1">
                <a:solidFill>
                  <a:srgbClr val="0052D9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A5B55-4F1E-4967-90DF-508A33EA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479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材料项级别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1F666-012E-48C8-A7A2-D74089A3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3"/>
                </a:solidFill>
              </a:defRPr>
            </a:pPr>
            <a:r>
              <a:rPr sz="1500" b="0">
                <a:solidFill>
                  <a:srgbClr val="5F6673"/>
                </a:solidFill>
              </a:rPr>
              <a:t>问题和阻断归属材料项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36D12-2622-4927-82EF-8989341B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981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0C5F1-8743-4ED5-B061-FFE6C727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623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52D9"/>
                </a:solidFill>
              </a:defRPr>
            </a:pPr>
            <a:r>
              <a:rPr sz="1875" b="1">
                <a:solidFill>
                  <a:srgbClr val="0052D9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A3CBF-7B2A-4DC0-BC27-52EF6C0B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62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禁用原因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B3B06-023D-4B49-B9B0-28B8C396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719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3"/>
                </a:solidFill>
              </a:defRPr>
            </a:pPr>
            <a:r>
              <a:rPr sz="1500" b="0">
                <a:solidFill>
                  <a:srgbClr val="5F6673"/>
                </a:solidFill>
              </a:rPr>
              <a:t>按钮不可用必须说明原因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BB98A-F1EE-453F-87E2-8D387A8E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981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9DC9A-7416-4119-BC61-86599D5A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767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52D9"/>
                </a:solidFill>
              </a:defRPr>
            </a:pPr>
            <a:r>
              <a:rPr sz="1875" b="1">
                <a:solidFill>
                  <a:srgbClr val="0052D9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73EC8-C66B-476D-9CF6-214BBF84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767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历史追溯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71C3A-9301-45E3-9528-CBA25B68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863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3"/>
                </a:solidFill>
              </a:defRPr>
            </a:pPr>
            <a:r>
              <a:rPr sz="1500" b="0">
                <a:solidFill>
                  <a:srgbClr val="5F6673"/>
                </a:solidFill>
              </a:rPr>
              <a:t>关键动作记录人、原因和状态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0396E1-CD9C-4C75-A57F-03E5DAE0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04</a:t>
            </a:r>
          </a:p>
        </p:txBody>
      </p:sp>
    </p:spTree>
    <p:extLst>
      <p:ext uri="{BB962C8B-B14F-4D97-AF65-F5344CB8AC3E}">
        <p14:creationId xmlns:p14="http://schemas.microsoft.com/office/powerpoint/2010/main" val="5746628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6518CB-A9F4-4914-8F42-D3A58101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需求规格说明书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B0899-81D1-4783-AB95-4248B668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329"/>
                </a:solidFill>
              </a:defRPr>
            </a:pPr>
            <a:r>
              <a:rPr sz="2700" b="1">
                <a:solidFill>
                  <a:srgbClr val="1F2329"/>
                </a:solidFill>
              </a:rPr>
              <a:t>核心对象关系决定权限和统计口径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13409-8CEF-433E-BB78-A8A855CB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C351E-4722-4CE6-97CA-AF21A3A1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5811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2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910DF-3EFB-4298-86F4-B559C1BD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52D9"/>
                </a:solidFill>
              </a:defRPr>
            </a:pPr>
            <a:r>
              <a:rPr sz="1650" b="1">
                <a:solidFill>
                  <a:srgbClr val="0052D9"/>
                </a:solidFill>
              </a:rPr>
              <a:t>认证项目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84F75-4AFF-4BF5-B222-3A44A4EA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生成归档任务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3052D-0C08-4D2E-A9D0-FC0CAD7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860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8A9099"/>
                </a:solidFill>
              </a:defRPr>
            </a:pPr>
            <a:r>
              <a:rPr sz="2400" b="1">
                <a:solidFill>
                  <a:srgbClr val="8A9099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60CD0-CBCD-402E-81A8-B30CB08C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90750"/>
            <a:ext cx="15811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7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D1CCF-57DB-42DA-BC48-547FCC75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955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875A"/>
                </a:solidFill>
              </a:defRPr>
            </a:pPr>
            <a:r>
              <a:rPr sz="1650" b="1">
                <a:solidFill>
                  <a:srgbClr val="00875A"/>
                </a:solidFill>
              </a:rPr>
              <a:t>归档任务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756E8-8614-4123-B68D-9AD83E12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908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关联多个体系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C8E21-C0ED-458E-9262-797752E6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8A9099"/>
                </a:solidFill>
              </a:defRPr>
            </a:pPr>
            <a:r>
              <a:rPr sz="2400" b="1">
                <a:solidFill>
                  <a:srgbClr val="8A9099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1B755-459C-4138-86FB-94791B52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15811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46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A95E7-464B-40BC-820A-599FF144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955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46000"/>
                </a:solidFill>
              </a:defRPr>
            </a:pPr>
            <a:r>
              <a:rPr sz="1650" b="1">
                <a:solidFill>
                  <a:srgbClr val="C46000"/>
                </a:solidFill>
              </a:rPr>
              <a:t>材料清单项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807F77-8B85-4B7B-A010-853D72E0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908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关联文件和问题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ABC9A-DAE6-483F-A26A-668B3589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8A9099"/>
                </a:solidFill>
              </a:defRPr>
            </a:pPr>
            <a:r>
              <a:rPr sz="2400" b="1">
                <a:solidFill>
                  <a:srgbClr val="8A9099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842CF-CA0F-41D6-BF66-F79EC526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15811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339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58409-238C-4D32-AE23-D66DF1EA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955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339D8"/>
                </a:solidFill>
              </a:defRPr>
            </a:pPr>
            <a:r>
              <a:rPr sz="1650" b="1">
                <a:solidFill>
                  <a:srgbClr val="6339D8"/>
                </a:solidFill>
              </a:rPr>
              <a:t>专家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96413-DA4F-4A63-ABA2-B2AE1423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受体系和专业限制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7B1709-B30D-4985-AF05-3733A95A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8A9099"/>
                </a:solidFill>
              </a:defRPr>
            </a:pPr>
            <a:r>
              <a:rPr sz="2400" b="1">
                <a:solidFill>
                  <a:srgbClr val="8A9099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DD7D9-D7D8-445F-B0F2-4348E1FF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90750"/>
            <a:ext cx="15811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34D5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80F47-47EE-4176-92AD-8BF1CBA9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955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34D59"/>
                </a:solidFill>
              </a:defRPr>
            </a:pPr>
            <a:r>
              <a:rPr sz="1650" b="1">
                <a:solidFill>
                  <a:srgbClr val="E34D59"/>
                </a:solidFill>
              </a:rPr>
              <a:t>认证决定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924DCE-92CE-4628-B12F-E6F4FA26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908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按领域形成结果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82E6F1-8B76-4AEA-943D-A50BE24A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434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46000"/>
          </a:solidFill>
          <a:ln xmlns:a="http://schemas.openxmlformats.org/drawingml/2006/main" w="9525">
            <a:solidFill>
              <a:srgbClr val="C46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09925B-00DF-41B3-A3A0-F7340B24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57700"/>
            <a:ext cx="702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329"/>
                </a:solidFill>
              </a:defRPr>
            </a:pPr>
            <a:r>
              <a:rPr sz="1650" b="0">
                <a:solidFill>
                  <a:srgbClr val="1F2329"/>
                </a:solidFill>
              </a:rPr>
              <a:t>文件可以覆盖多个体系，但不承载评定结论。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54EC99-BD7E-4874-94A8-3B45FBDD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577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339D8"/>
          </a:solidFill>
          <a:ln xmlns:a="http://schemas.openxmlformats.org/drawingml/2006/main" w="9525">
            <a:solidFill>
              <a:srgbClr val="6339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28FD62-B71E-4E12-B7A8-F227CDEE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72050"/>
            <a:ext cx="702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329"/>
                </a:solidFill>
              </a:defRPr>
            </a:pPr>
            <a:r>
              <a:rPr sz="1650" b="0">
                <a:solidFill>
                  <a:srgbClr val="1F2329"/>
                </a:solidFill>
              </a:rPr>
              <a:t>专家和决定人员必须按授权范围查看和处理。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264AE7-7934-473E-82D8-9BCF4137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05</a:t>
            </a:r>
          </a:p>
        </p:txBody>
      </p:sp>
    </p:spTree>
    <p:extLst>
      <p:ext uri="{BB962C8B-B14F-4D97-AF65-F5344CB8AC3E}">
        <p14:creationId xmlns:p14="http://schemas.microsoft.com/office/powerpoint/2010/main" val="8477345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A979EC-9B57-497D-8FA5-2B7CE020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需求规格说明书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BA572-F3BD-453A-8553-A78CA5BA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329"/>
                </a:solidFill>
              </a:defRPr>
            </a:pPr>
            <a:r>
              <a:rPr sz="2700" b="1">
                <a:solidFill>
                  <a:srgbClr val="1F2329"/>
                </a:solidFill>
              </a:rPr>
              <a:t>端到端流程延伸到认证决定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5B4D4-5BE3-4D8E-B7FA-6D9D32BD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A6287-3043-491F-BD13-847D93E9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581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2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44A11-3138-40FF-AC7F-836E9323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C2067-FCC4-4D6B-89CB-D769BD4F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9"/>
                </a:solidFill>
              </a:defRPr>
            </a:pPr>
            <a:r>
              <a:rPr sz="1350" b="1">
                <a:solidFill>
                  <a:srgbClr val="1F2329"/>
                </a:solidFill>
              </a:rPr>
              <a:t>归档任务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ACF72-62DB-47F1-8F1F-E3C0EB93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系统创建归档材料任务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B2D1F-9AAA-4553-80CB-59F6E03C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71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A9099"/>
                </a:solidFill>
              </a:defRPr>
            </a:pPr>
            <a:r>
              <a:rPr sz="2025" b="1">
                <a:solidFill>
                  <a:srgbClr val="8A909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8C280-FD11-4BC0-850E-03842225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1581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2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9D016-AB44-4DAC-8258-ED8BA3DE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241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E4EE6-BA75-45E7-BD07-E20B07E5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4315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9"/>
                </a:solidFill>
              </a:defRPr>
            </a:pPr>
            <a:r>
              <a:rPr sz="1350" b="1">
                <a:solidFill>
                  <a:srgbClr val="1F2329"/>
                </a:solidFill>
              </a:rPr>
              <a:t>补齐提交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3C34D-7E53-45EC-A5BB-F4EF971F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8130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项目管理人员提交初评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5E894-63E2-45FD-BACE-287E41E7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A9099"/>
                </a:solidFill>
              </a:defRPr>
            </a:pPr>
            <a:r>
              <a:rPr sz="2025" b="1">
                <a:solidFill>
                  <a:srgbClr val="8A9099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F2447-2DC0-4637-B20D-DD9E3494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52650"/>
            <a:ext cx="1581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46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5D973-64A9-40A3-AF18-47AE3596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241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46000"/>
                </a:solidFill>
              </a:defRPr>
            </a:pPr>
            <a:r>
              <a:rPr sz="1800" b="1">
                <a:solidFill>
                  <a:srgbClr val="C46000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034D7-E173-41C5-95F3-8260977F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4315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9"/>
                </a:solidFill>
              </a:defRPr>
            </a:pPr>
            <a:r>
              <a:rPr sz="1350" b="1">
                <a:solidFill>
                  <a:srgbClr val="1F2329"/>
                </a:solidFill>
              </a:rPr>
              <a:t>初评专家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228168-8EE8-46AD-AE3F-70A73C73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覆盖、问题和整改复核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10E31-9617-4D63-B465-EF5DB3EA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A9099"/>
                </a:solidFill>
              </a:defRPr>
            </a:pPr>
            <a:r>
              <a:rPr sz="2025" b="1">
                <a:solidFill>
                  <a:srgbClr val="8A9099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1A32E-999A-4B24-9A40-8C1800C9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1581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339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51633-5E02-483C-9830-B457E82D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241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339D8"/>
                </a:solidFill>
              </a:defRPr>
            </a:pPr>
            <a:r>
              <a:rPr sz="1800" b="1">
                <a:solidFill>
                  <a:srgbClr val="6339D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6FD075-6C63-4E0B-AC9A-E0649B9F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9"/>
                </a:solidFill>
              </a:defRPr>
            </a:pPr>
            <a:r>
              <a:rPr sz="1350" b="1">
                <a:solidFill>
                  <a:srgbClr val="1F2329"/>
                </a:solidFill>
              </a:rPr>
              <a:t>二次评定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1BB7FF-1598-4500-9334-BBCC0160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按体系分流通过或退回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C5699A-4B34-41D4-B0DB-20315F79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71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A9099"/>
                </a:solidFill>
              </a:defRPr>
            </a:pPr>
            <a:r>
              <a:rPr sz="2025" b="1">
                <a:solidFill>
                  <a:srgbClr val="8A9099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B31092-0E89-4917-97F8-4FBCF578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1581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34D5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03FD5F-A987-4659-B0BB-1479932D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241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34D59"/>
                </a:solidFill>
              </a:defRPr>
            </a:pPr>
            <a:r>
              <a:rPr sz="1800" b="1">
                <a:solidFill>
                  <a:srgbClr val="E34D59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00CCB6-C081-49E3-A1CF-37058B03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4315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9"/>
                </a:solidFill>
              </a:defRPr>
            </a:pPr>
            <a:r>
              <a:rPr sz="1350" b="1">
                <a:solidFill>
                  <a:srgbClr val="1F2329"/>
                </a:solidFill>
              </a:rPr>
              <a:t>认证决定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5683CD-9E08-4F0D-B2C6-A43AECB1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8130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按领域通过、补充或驳回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BE3768-1AD7-44C0-B648-1D168511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71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A9099"/>
                </a:solidFill>
              </a:defRPr>
            </a:pPr>
            <a:r>
              <a:rPr sz="2025" b="1">
                <a:solidFill>
                  <a:srgbClr val="8A9099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CE6848-568E-4061-AB96-24D9E520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52650"/>
            <a:ext cx="1581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7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A6B2F0-568A-46D9-812C-25672686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241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75A"/>
                </a:solidFill>
              </a:defRPr>
            </a:pPr>
            <a:r>
              <a:rPr sz="1800" b="1">
                <a:solidFill>
                  <a:srgbClr val="00875A"/>
                </a:solidFill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74165E-32BC-441A-8F17-43E10471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34315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9"/>
                </a:solidFill>
              </a:defRPr>
            </a:pPr>
            <a:r>
              <a:rPr sz="1350" b="1">
                <a:solidFill>
                  <a:srgbClr val="1F2329"/>
                </a:solidFill>
              </a:rPr>
              <a:t>结果归档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9ED9A6-99A7-42AB-A753-4637E3CD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8130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结果态只读并保留历史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D6068A-BEC5-4FE4-9B4A-B5BE3B2B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19600"/>
            <a:ext cx="7620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31A1D2-C78F-44B1-AEAA-F1BB51D3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67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7B2F"/>
                </a:solidFill>
              </a:defRPr>
            </a:pPr>
            <a:r>
              <a:rPr sz="1800" b="1">
                <a:solidFill>
                  <a:srgbClr val="ED7B2F"/>
                </a:solidFill>
              </a:rPr>
              <a:t>关键分支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88FE5F-C311-4202-BF82-716D5A10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86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329"/>
                </a:solidFill>
              </a:defRPr>
            </a:pPr>
            <a:r>
              <a:rPr sz="1650" b="0">
                <a:solidFill>
                  <a:srgbClr val="1F2329"/>
                </a:solidFill>
              </a:rPr>
              <a:t>初评、二评、认证决定退回后的回流路径不同。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D7720B-7600-4B6C-89DA-71F75D38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06</a:t>
            </a:r>
          </a:p>
        </p:txBody>
      </p:sp>
    </p:spTree>
    <p:extLst>
      <p:ext uri="{BB962C8B-B14F-4D97-AF65-F5344CB8AC3E}">
        <p14:creationId xmlns:p14="http://schemas.microsoft.com/office/powerpoint/2010/main" val="14355421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CE6D4-9D16-46AB-AD5B-C906E4AE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需求规格说明书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3232B-EE65-4061-8F67-5B5AA4F9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329"/>
                </a:solidFill>
              </a:defRPr>
            </a:pPr>
            <a:r>
              <a:rPr sz="2700" b="1">
                <a:solidFill>
                  <a:srgbClr val="1F2329"/>
                </a:solidFill>
              </a:rPr>
              <a:t>前三类角色负责材料进入评定并形成专家意见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FA72A-2AF2-41D6-BFAF-520B8BE2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21F53-B0D0-47C9-A516-8222A02F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3048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549F5-9502-464B-8236-97D6FC4F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76200" cy="1638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132E1-D936-4C8F-8CA5-FC5BD92B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71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项目管理人员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DC090-33E0-4169-8FCD-3A60EC00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09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补齐材料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4FCCE-F0B4-47C8-954E-74B10DE6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4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提交初评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499CF-D652-4EDC-8C05-0D60B30A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19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处理退回补充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AFE6D-C421-450F-94C2-8F0C4440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62150"/>
            <a:ext cx="3048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CC3FD-9432-4AEB-8CCF-83F61805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90750"/>
            <a:ext cx="76200" cy="1638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46000"/>
          </a:solidFill>
          <a:ln xmlns:a="http://schemas.openxmlformats.org/drawingml/2006/main" w="9525">
            <a:solidFill>
              <a:srgbClr val="C46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5AB7B-81B7-4992-975F-E93EB2E9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6000"/>
                </a:solidFill>
              </a:defRPr>
            </a:pPr>
            <a:r>
              <a:rPr sz="1800" b="1">
                <a:solidFill>
                  <a:srgbClr val="C46000"/>
                </a:solidFill>
              </a:rPr>
              <a:t>初评协调员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B2DCC-B033-4767-A93E-72F1C358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9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接收任务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D378A-959E-46A5-914A-E289EFB8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14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指派专家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23FEA-1272-47E3-802A-F833AF5B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19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复核问题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72091-CCA8-4EA6-9AD6-8574070E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2150"/>
            <a:ext cx="3048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4D9AB-F106-4ABE-9536-9651D052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76200" cy="1638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875A"/>
          </a:solidFill>
          <a:ln xmlns:a="http://schemas.openxmlformats.org/drawingml/2006/main" w="9525">
            <a:solidFill>
              <a:srgbClr val="0087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8BE3F-923A-45F2-B95F-C6255CE4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71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75A"/>
                </a:solidFill>
              </a:defRPr>
            </a:pPr>
            <a:r>
              <a:rPr sz="1800" b="1">
                <a:solidFill>
                  <a:srgbClr val="00875A"/>
                </a:solidFill>
              </a:rPr>
              <a:t>评定专家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CC2DF-C4B1-4A10-B603-5AE4994B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9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按授权审阅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6D20B-8DCA-4E5A-A2A3-1CB26CAF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14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预览文件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8C7D1A-5703-4785-9AEE-AFCCF5FA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登记问题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033525-959D-4428-AD29-37D5E6B6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这三类角色共同围绕材料清单项工作，具体文件只是证据入口。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C3AE83-0314-470F-BE3A-337425AE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07</a:t>
            </a:r>
          </a:p>
        </p:txBody>
      </p:sp>
    </p:spTree>
    <p:extLst>
      <p:ext uri="{BB962C8B-B14F-4D97-AF65-F5344CB8AC3E}">
        <p14:creationId xmlns:p14="http://schemas.microsoft.com/office/powerpoint/2010/main" val="12557415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1BCF7-B8EE-4851-9A4D-AFBCE52D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需求规格说明书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4411C-B700-4900-BFE1-BD2052D9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329"/>
                </a:solidFill>
              </a:defRPr>
            </a:pPr>
            <a:r>
              <a:rPr sz="2700" b="1">
                <a:solidFill>
                  <a:srgbClr val="1F2329"/>
                </a:solidFill>
              </a:rPr>
              <a:t>后两类角色负责最终分流和证书决定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9A901-8B67-43F0-BF9E-E2EFB8AB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214F5-F036-4414-9446-87C6CB1C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4095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6CF5A-4E41-42DC-AD68-647145F7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66950"/>
            <a:ext cx="76200" cy="17335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339D8"/>
          </a:solidFill>
          <a:ln xmlns:a="http://schemas.openxmlformats.org/drawingml/2006/main" w="9525">
            <a:solidFill>
              <a:srgbClr val="6339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5E82B-6C9F-41CF-985D-D1710091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47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39D8"/>
                </a:solidFill>
              </a:defRPr>
            </a:pPr>
            <a:r>
              <a:rPr sz="1800" b="1">
                <a:solidFill>
                  <a:srgbClr val="6339D8"/>
                </a:solidFill>
              </a:rPr>
              <a:t>二次评定协调员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25336-2309-4569-94A0-56DC9E21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86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清理有效问题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080ED-7B4E-4B1C-95B0-6D9F7F96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90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判断体系分流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AA967-4B00-49C1-8E99-D1BEB233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95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通过或退回补正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6D3ED-BA96-41EF-8D65-E34EA004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4095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F1526-6C6F-4506-92B4-7F4DE21A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66950"/>
            <a:ext cx="76200" cy="17335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4D59"/>
          </a:solidFill>
          <a:ln xmlns:a="http://schemas.openxmlformats.org/drawingml/2006/main" w="9525">
            <a:solidFill>
              <a:srgbClr val="E34D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6AFD6-3F01-446A-8CB6-A96D7CB7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4D59"/>
                </a:solidFill>
              </a:defRPr>
            </a:pPr>
            <a:r>
              <a:rPr sz="1800" b="1">
                <a:solidFill>
                  <a:srgbClr val="E34D59"/>
                </a:solidFill>
              </a:rPr>
              <a:t>认证决定人员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35F03-DF86-4BA6-9F9B-24FE1F15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86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核对证书信息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BFB17-7C4B-429F-B4DD-6D91F896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90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查阅归档材料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58A07-EF0D-4485-8270-917B3974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95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按领域形成决定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B29C7-0600-467E-8920-194B3FA9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4D59"/>
                </a:solidFill>
              </a:defRPr>
            </a:pPr>
            <a:r>
              <a:rPr sz="1800" b="1">
                <a:solidFill>
                  <a:srgbClr val="E34D59"/>
                </a:solidFill>
              </a:rPr>
              <a:t>新版讲解要特别强调：二评结束后，还会进入认证决定环节。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FA1D75-93A2-4EE5-8DEF-4B7916DB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08</a:t>
            </a:r>
          </a:p>
        </p:txBody>
      </p:sp>
    </p:spTree>
    <p:extLst>
      <p:ext uri="{BB962C8B-B14F-4D97-AF65-F5344CB8AC3E}">
        <p14:creationId xmlns:p14="http://schemas.microsoft.com/office/powerpoint/2010/main" val="19045019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B1A6A7-80B7-48C4-A74E-E436736F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需求规格说明书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71DF2-6972-4A11-B0F9-2FB05A9A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329"/>
                </a:solidFill>
              </a:defRPr>
            </a:pPr>
            <a:r>
              <a:rPr sz="2700" b="1">
                <a:solidFill>
                  <a:srgbClr val="1F2329"/>
                </a:solidFill>
              </a:rPr>
              <a:t>材料归档回答“是否具备提交评定条件”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5529A-4B4A-4D6C-BF2D-EBF0C039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AF26E-5ACC-44FE-9280-902F5C02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31432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94337-E55E-40A7-AAF2-B0C6DE61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76200" cy="19621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C5092-9136-4A77-BEA6-B3DE9E5A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57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列表页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F1E3D-0EC6-4E00-B586-78EA6EF3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95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状态页签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25257-9FD0-4EB5-ADAC-73428E14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00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查询和分页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7A96C-534D-4C70-B374-68093BE7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材料进度提示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E7556-0FBB-4616-A45F-1F650328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47850"/>
            <a:ext cx="31432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74AC7-EFAE-430B-AE01-9142B320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76450"/>
            <a:ext cx="76200" cy="19621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875A"/>
          </a:solidFill>
          <a:ln xmlns:a="http://schemas.openxmlformats.org/drawingml/2006/main" w="9525">
            <a:solidFill>
              <a:srgbClr val="0087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5E5B8-0DDB-4FDC-BDD7-C8D5817C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57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75A"/>
                </a:solidFill>
              </a:defRPr>
            </a:pPr>
            <a:r>
              <a:rPr sz="1800" b="1">
                <a:solidFill>
                  <a:srgbClr val="00875A"/>
                </a:solidFill>
              </a:rPr>
              <a:t>详情页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6E707-35F7-4268-9DF7-BC2156C8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95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48 项材料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81CF2-586E-45EE-B4C1-E6B9B332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00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缺失和已带入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7BDBB-4816-4BB3-93A4-2AC90731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上传和资料库选择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561B0-C104-4C7E-895E-3D91BA70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47850"/>
            <a:ext cx="31432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3D155-C350-4431-AAFE-440A7406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76450"/>
            <a:ext cx="76200" cy="19621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46000"/>
          </a:solidFill>
          <a:ln xmlns:a="http://schemas.openxmlformats.org/drawingml/2006/main" w="9525">
            <a:solidFill>
              <a:srgbClr val="C46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85079F-DD43-486D-B480-341F7004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57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6000"/>
                </a:solidFill>
              </a:defRPr>
            </a:pPr>
            <a:r>
              <a:rPr sz="1800" b="1">
                <a:solidFill>
                  <a:srgbClr val="C46000"/>
                </a:solidFill>
              </a:rPr>
              <a:t>提交控制台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527FC4-2CBF-4BCB-A813-792412B4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95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体系完整性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8A5471-1387-442A-A41A-61F408BF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0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阻断原因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2D8D1E-E506-428F-AC2E-F84FED46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提交初次评定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AC75F-3F62-40BB-9FAA-92E2CC82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提交按钮只有在业务条件满足时启用，禁用时要显示可读原因。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AEFF2D-5A84-47E8-9C39-75E2FDEF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09</a:t>
            </a:r>
          </a:p>
        </p:txBody>
      </p:sp>
    </p:spTree>
    <p:extLst>
      <p:ext uri="{BB962C8B-B14F-4D97-AF65-F5344CB8AC3E}">
        <p14:creationId xmlns:p14="http://schemas.microsoft.com/office/powerpoint/2010/main" val="1104116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D2F0D-DA82-4A05-842C-20EDF89D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需求规格说明书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F1347-BC6E-4544-BDD7-7EA2C850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329"/>
                </a:solidFill>
              </a:defRPr>
            </a:pPr>
            <a:r>
              <a:rPr sz="2700" b="1">
                <a:solidFill>
                  <a:srgbClr val="1F2329"/>
                </a:solidFill>
              </a:rPr>
              <a:t>材料清单项和具体文件不能混为一谈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3D9A4-0D2A-4BFC-B05A-4EE71CBF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13525-B85E-461D-91C6-D6F76453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40957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2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1B60E-5498-467D-95CC-08ADB3D6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52D9"/>
                </a:solidFill>
              </a:defRPr>
            </a:pPr>
            <a:r>
              <a:rPr sz="2100" b="1">
                <a:solidFill>
                  <a:srgbClr val="0052D9"/>
                </a:solidFill>
              </a:rPr>
              <a:t>材料清单项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51B95-8569-4ADF-8AF0-1B66A836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28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329"/>
                </a:solidFill>
              </a:defRPr>
            </a:pPr>
            <a:r>
              <a:rPr sz="1650" b="0">
                <a:solidFill>
                  <a:srgbClr val="1F2329"/>
                </a:solidFill>
              </a:rPr>
              <a:t>完整性校验对象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A795D-B1A9-4C5D-BFC2-D63D3CC9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09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329"/>
                </a:solidFill>
              </a:defRPr>
            </a:pPr>
            <a:r>
              <a:rPr sz="1650" b="0">
                <a:solidFill>
                  <a:srgbClr val="1F2329"/>
                </a:solidFill>
              </a:rPr>
              <a:t>问题登记对象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62D20-1AAA-468D-8326-07937D7A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329"/>
                </a:solidFill>
              </a:defRPr>
            </a:pPr>
            <a:r>
              <a:rPr sz="1650" b="0">
                <a:solidFill>
                  <a:srgbClr val="1F2329"/>
                </a:solidFill>
              </a:rPr>
              <a:t>认证决定阻断对象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76C97-3314-42D1-A6B0-6659DCBC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527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8A9099"/>
                </a:solidFill>
              </a:defRPr>
            </a:pPr>
            <a:r>
              <a:rPr sz="3600" b="1">
                <a:solidFill>
                  <a:srgbClr val="8A9099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C68EB-BB73-499A-9542-8C051CAC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38350"/>
            <a:ext cx="40957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B3AE7-7961-461A-8431-63722FD4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81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F6673"/>
                </a:solidFill>
              </a:defRPr>
            </a:pPr>
            <a:r>
              <a:rPr sz="2100" b="1">
                <a:solidFill>
                  <a:srgbClr val="5F6673"/>
                </a:solidFill>
              </a:rPr>
              <a:t>具体文件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7084A-3B5B-4056-8BA7-2E933135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28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329"/>
                </a:solidFill>
              </a:defRPr>
            </a:pPr>
            <a:r>
              <a:rPr sz="1650" b="0">
                <a:solidFill>
                  <a:srgbClr val="1F2329"/>
                </a:solidFill>
              </a:rPr>
              <a:t>证据附件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4EF85-194D-4E53-B831-7273B7CC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09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329"/>
                </a:solidFill>
              </a:defRPr>
            </a:pPr>
            <a:r>
              <a:rPr sz="1650" b="0">
                <a:solidFill>
                  <a:srgbClr val="1F2329"/>
                </a:solidFill>
              </a:rPr>
              <a:t>在线表单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F573C-B622-4CDC-B0BA-BADE9137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90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329"/>
                </a:solidFill>
              </a:defRPr>
            </a:pPr>
            <a:r>
              <a:rPr sz="1650" b="0">
                <a:solidFill>
                  <a:srgbClr val="1F2329"/>
                </a:solidFill>
              </a:rPr>
              <a:t>资料库关联文件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38B74-F54C-456E-88BF-3F33314C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4D59"/>
                </a:solidFill>
              </a:defRPr>
            </a:pPr>
            <a:r>
              <a:rPr sz="1800" b="1">
                <a:solidFill>
                  <a:srgbClr val="E34D59"/>
                </a:solidFill>
              </a:rPr>
              <a:t>文件行不展示评定状态，也不形成认证决定。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02E67-C598-4E00-A509-9361DC31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10</a:t>
            </a:r>
          </a:p>
        </p:txBody>
      </p:sp>
    </p:spTree>
    <p:extLst>
      <p:ext uri="{BB962C8B-B14F-4D97-AF65-F5344CB8AC3E}">
        <p14:creationId xmlns:p14="http://schemas.microsoft.com/office/powerpoint/2010/main" val="3714385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838A3-9E3D-44A8-831F-BFBA4A06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需求规格说明书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412BD-2407-4003-98DA-87E94372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329"/>
                </a:solidFill>
              </a:defRPr>
            </a:pPr>
            <a:r>
              <a:rPr sz="2700" b="1">
                <a:solidFill>
                  <a:srgbClr val="1F2329"/>
                </a:solidFill>
              </a:rPr>
              <a:t>初次评定关注专家覆盖和有效问题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80E45-A8B2-43F9-B7E2-4B66A726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351B8-5120-497D-8A0B-7B09EC84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38350"/>
            <a:ext cx="4000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DF39F-459D-45C2-9F1A-6F6664D9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66950"/>
            <a:ext cx="76200" cy="1828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46000"/>
          </a:solidFill>
          <a:ln xmlns:a="http://schemas.openxmlformats.org/drawingml/2006/main" w="9525">
            <a:solidFill>
              <a:srgbClr val="C46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30FE1-18EE-439D-9864-69B7347D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47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6000"/>
                </a:solidFill>
              </a:defRPr>
            </a:pPr>
            <a:r>
              <a:rPr sz="1800" b="1">
                <a:solidFill>
                  <a:srgbClr val="C46000"/>
                </a:solidFill>
              </a:rPr>
              <a:t>专家覆盖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FBF8A-0374-4809-9217-3A3076D4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86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体系必须覆盖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8416E-F4D3-4FB3-9FE4-A208331D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908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授权范围要匹配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59CA2-D3AB-45E1-8EB2-E24C4CC3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95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替换专家要留痕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D2B69-657E-44F5-860C-828413AA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38350"/>
            <a:ext cx="4000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FC65A-0D63-438E-881F-37BE64FD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76200" cy="1828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4D59"/>
          </a:solidFill>
          <a:ln xmlns:a="http://schemas.openxmlformats.org/drawingml/2006/main" w="9525">
            <a:solidFill>
              <a:srgbClr val="E34D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A2A0E-47B0-4752-BC56-4566F669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47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4D59"/>
                </a:solidFill>
              </a:defRPr>
            </a:pPr>
            <a:r>
              <a:rPr sz="1800" b="1">
                <a:solidFill>
                  <a:srgbClr val="E34D59"/>
                </a:solidFill>
              </a:rPr>
              <a:t>问题复核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AEE3D-8568-4A60-921D-F1881C94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86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问题描述必填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B54EE-E7AF-45B0-AE23-F0EB71D5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908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处理状态要同步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3E07E-B0C4-4CE1-ABC5-A1DBBEE6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95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有效问题阻断通过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DB1897-1E24-4539-A551-9598BCAE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6000"/>
                </a:solidFill>
              </a:defRPr>
            </a:pPr>
            <a:r>
              <a:rPr sz="1800" b="1">
                <a:solidFill>
                  <a:srgbClr val="C46000"/>
                </a:solidFill>
              </a:rPr>
              <a:t>通过初评的前提：专家覆盖完整，且不存在有效未关闭问题。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F099A-C69C-478A-AB4B-66B0E2AC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11</a:t>
            </a:r>
          </a:p>
        </p:txBody>
      </p:sp>
    </p:spTree>
    <p:extLst>
      <p:ext uri="{BB962C8B-B14F-4D97-AF65-F5344CB8AC3E}">
        <p14:creationId xmlns:p14="http://schemas.microsoft.com/office/powerpoint/2010/main" val="19106218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90651A-F9FD-4E1C-9D58-3FFED45C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需求规格说明书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90614-9AB0-46A3-8D06-07428FB2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329"/>
                </a:solidFill>
              </a:defRPr>
            </a:pPr>
            <a:r>
              <a:rPr sz="2700" b="1">
                <a:solidFill>
                  <a:srgbClr val="1F2329"/>
                </a:solidFill>
              </a:rPr>
              <a:t>专家评定只处理授权体系内的材料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3E1C5-F6D5-4268-B23C-C6E3A210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28CB9-120E-4E53-BDA9-038C1505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B2A70-6D6C-420B-ABEB-7DD8D434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52650"/>
            <a:ext cx="76200" cy="1924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875A"/>
          </a:solidFill>
          <a:ln xmlns:a="http://schemas.openxmlformats.org/drawingml/2006/main" w="9525">
            <a:solidFill>
              <a:srgbClr val="0087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B80FD-2673-4DC5-8450-CA3A5835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33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75A"/>
                </a:solidFill>
              </a:defRPr>
            </a:pPr>
            <a:r>
              <a:rPr sz="1800" b="1">
                <a:solidFill>
                  <a:srgbClr val="00875A"/>
                </a:solidFill>
              </a:rPr>
              <a:t>材料范围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A3A76-140A-49BF-9CD7-886C981C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只展示授权体系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C7BB3-E2FD-433E-A667-A94B9BC9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76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无关材料不进入材料树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72056-7CC5-4E8E-BF22-A85AA72A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81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统计按授权范围计算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82C02-73F0-40C1-BDE6-6FFBAA66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9C0CD-8D76-4DB0-9C44-CDCEA102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52650"/>
            <a:ext cx="76200" cy="1924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8E4A4-6280-4565-9F7A-EC1AA0C7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33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文件预览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0DEC4-EA0A-4769-9814-C6FB3857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查看证据文件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65F85-CE48-4A60-B58D-A2A70301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76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可直接登记问题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07F16-DE57-4CBC-8BCA-81EC287F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81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切换文件要保护草稿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770653-E10D-49D0-8784-AFB5BEF4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F7F0E-7ABB-4950-8317-1FCE4108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76200" cy="1924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339D8"/>
          </a:solidFill>
          <a:ln xmlns:a="http://schemas.openxmlformats.org/drawingml/2006/main" w="9525">
            <a:solidFill>
              <a:srgbClr val="6339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52E67-EFE6-4CFC-8AFA-8CF1A07B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39D8"/>
                </a:solidFill>
              </a:defRPr>
            </a:pPr>
            <a:r>
              <a:rPr sz="1800" b="1">
                <a:solidFill>
                  <a:srgbClr val="6339D8"/>
                </a:solidFill>
              </a:rPr>
              <a:t>提交结果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C449F5-7050-4F8D-A43C-2D9E3B7A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提交前确认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7C70C-B6DB-43DE-9434-D1D93EC1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76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提示未查看材料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460C66-3494-4774-9861-5964D08E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提交后只读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69D0C5-F5C7-425A-9856-4AF1DFDC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12</a:t>
            </a:r>
          </a:p>
        </p:txBody>
      </p:sp>
    </p:spTree>
    <p:extLst>
      <p:ext uri="{BB962C8B-B14F-4D97-AF65-F5344CB8AC3E}">
        <p14:creationId xmlns:p14="http://schemas.microsoft.com/office/powerpoint/2010/main" val="5925643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289E1-1EA6-4D77-BE38-551BCD5F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需求规格说明书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09A7E-7343-45D8-A81A-49A4C5A8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329"/>
                </a:solidFill>
              </a:defRPr>
            </a:pPr>
            <a:r>
              <a:rPr sz="2700" b="1">
                <a:solidFill>
                  <a:srgbClr val="1F2329"/>
                </a:solidFill>
              </a:rPr>
              <a:t>二次评定支持体系级分流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150B0-394A-4C8B-9DB7-92DEB512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24918-D139-4ACF-A25A-B281625B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4095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7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227C7-CE7A-4A13-B780-D4A1AF2F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38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75A"/>
                </a:solidFill>
              </a:defRPr>
            </a:pPr>
            <a:r>
              <a:rPr sz="2100" b="1">
                <a:solidFill>
                  <a:srgbClr val="00875A"/>
                </a:solidFill>
              </a:rPr>
              <a:t>可通过体系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D74B5-A39B-41F2-9EA9-3D5FD9BC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05150"/>
            <a:ext cx="5524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1AAEA-FC1C-4F57-8179-60B102F7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43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2EABA-3F0B-4C67-8C14-6C96BE0A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05150"/>
            <a:ext cx="5524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6F7F1"/>
          </a:solidFill>
          <a:ln xmlns:a="http://schemas.openxmlformats.org/drawingml/2006/main" w="9525">
            <a:solidFill>
              <a:srgbClr val="0087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347BF-76FE-4E05-8F63-31DF5D16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43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75A"/>
                </a:solidFill>
              </a:defRPr>
            </a:pPr>
            <a:r>
              <a:rPr sz="1200" b="1">
                <a:solidFill>
                  <a:srgbClr val="00875A"/>
                </a:solidFill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B9809-B01F-4AEC-B74F-469D8DCC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14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3"/>
                </a:solidFill>
              </a:defRPr>
            </a:pPr>
            <a:r>
              <a:rPr sz="1575" b="0">
                <a:solidFill>
                  <a:srgbClr val="5F6673"/>
                </a:solidFill>
              </a:rPr>
              <a:t>覆盖完整，问题已关闭。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43E84-3F39-4B36-8333-A0BE6285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57400"/>
            <a:ext cx="4095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34D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63FBD-DFF5-4D9A-B745-A448A67B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38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34D59"/>
                </a:solidFill>
              </a:defRPr>
            </a:pPr>
            <a:r>
              <a:rPr sz="2100" b="1">
                <a:solidFill>
                  <a:srgbClr val="E34D59"/>
                </a:solidFill>
              </a:rPr>
              <a:t>需退回体系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E3FDA-3EBF-4263-9341-016A3421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05150"/>
            <a:ext cx="5524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3E5"/>
          </a:solidFill>
          <a:ln xmlns:a="http://schemas.openxmlformats.org/drawingml/2006/main" w="9525">
            <a:solidFill>
              <a:srgbClr val="C46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EE5D6-7B73-46DD-8FC7-AB814E6D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43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6000"/>
                </a:solidFill>
              </a:defRPr>
            </a:pPr>
            <a:r>
              <a:rPr sz="1200" b="1">
                <a:solidFill>
                  <a:srgbClr val="C46000"/>
                </a:solidFill>
              </a:rPr>
              <a:t>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D460A-979E-47DF-90F8-9605419C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05150"/>
            <a:ext cx="5524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6339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AEB27-7BB4-4C05-9F83-8A489AC2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39D8"/>
                </a:solidFill>
              </a:defRPr>
            </a:pPr>
            <a:r>
              <a:rPr sz="1200" b="1">
                <a:solidFill>
                  <a:srgbClr val="6339D8"/>
                </a:solidFill>
              </a:rPr>
              <a:t>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5B638-B3DC-494A-A56E-82DC8585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14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3"/>
                </a:solidFill>
              </a:defRPr>
            </a:pPr>
            <a:r>
              <a:rPr sz="1575" b="0">
                <a:solidFill>
                  <a:srgbClr val="5F6673"/>
                </a:solidFill>
              </a:rPr>
              <a:t>存在有效问题或材料不足。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E442BE-23F8-467B-9EAF-BFDD1F9B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39D8"/>
                </a:solidFill>
              </a:defRPr>
            </a:pPr>
            <a:r>
              <a:rPr sz="1800" b="1">
                <a:solidFill>
                  <a:srgbClr val="6339D8"/>
                </a:solidFill>
              </a:rPr>
              <a:t>任一体系退回时，要记录退回体系、材料和原因。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5D4C3-49C2-4D51-9BD2-CC8BA3B9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13</a:t>
            </a:r>
          </a:p>
        </p:txBody>
      </p:sp>
    </p:spTree>
    <p:extLst>
      <p:ext uri="{BB962C8B-B14F-4D97-AF65-F5344CB8AC3E}">
        <p14:creationId xmlns:p14="http://schemas.microsoft.com/office/powerpoint/2010/main" val="3917966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15CAA-DEBC-4D6F-A730-564E2FAA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需求规格说明书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28053-9F12-4A2B-9D84-83C2B600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329"/>
                </a:solidFill>
              </a:defRPr>
            </a:pPr>
            <a:r>
              <a:rPr sz="2700" b="1">
                <a:solidFill>
                  <a:srgbClr val="1F2329"/>
                </a:solidFill>
              </a:rPr>
              <a:t>认证决定按认证领域形成结论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42D05-D24E-49BF-B279-D4986AAB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001B6-4272-4678-8AD5-1958B77B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E68C4-DEB2-423C-8745-8370B199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76200" cy="1543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9F5B7-8544-4EBC-861E-7561F6D8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95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准入条件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449AB-3CF3-4104-9E7C-6D13F5B1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33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完成前置评定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C410B-8B9E-4DD2-AADE-C0A28C2E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满足证书决定条件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66189-5785-4C60-B705-0E864253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859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CE2BF-BC12-487A-9648-E4B54439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114550"/>
            <a:ext cx="76200" cy="1543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339D8"/>
          </a:solidFill>
          <a:ln xmlns:a="http://schemas.openxmlformats.org/drawingml/2006/main" w="9525">
            <a:solidFill>
              <a:srgbClr val="6339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473B0-8745-43F6-B462-DF39FD18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95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39D8"/>
                </a:solidFill>
              </a:defRPr>
            </a:pPr>
            <a:r>
              <a:rPr sz="1800" b="1">
                <a:solidFill>
                  <a:srgbClr val="6339D8"/>
                </a:solidFill>
              </a:rPr>
              <a:t>领域级处理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AA04C-6576-4E2B-BCAA-06341D97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33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按 Q/E/S/F 分别决定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8A065-A962-4F99-9BA7-5B397136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38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多证书同领域同结论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89D704-3B9F-4546-888C-3D85398B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9F90A-E30C-4733-9A82-EB4F1E78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14550"/>
            <a:ext cx="76200" cy="1543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4D59"/>
          </a:solidFill>
          <a:ln xmlns:a="http://schemas.openxmlformats.org/drawingml/2006/main" w="9525">
            <a:solidFill>
              <a:srgbClr val="E34D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286C5-0E40-43A1-9A60-AF5048F5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4D59"/>
                </a:solidFill>
              </a:defRPr>
            </a:pPr>
            <a:r>
              <a:rPr sz="1800" b="1">
                <a:solidFill>
                  <a:srgbClr val="E34D59"/>
                </a:solidFill>
              </a:rPr>
              <a:t>三类动作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DCE6F-1C34-45E9-8DD0-AFDCA078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33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认证通过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01712-25AA-4F2E-B01E-0B6D0AB3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38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退回补充材料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ADC3C-7AA8-45A1-A419-09E3A5F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不予通过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92358-82F3-4037-BE45-DA2C4D3B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4D59"/>
                </a:solidFill>
              </a:defRPr>
            </a:pPr>
            <a:r>
              <a:rPr sz="1800" b="1">
                <a:solidFill>
                  <a:srgbClr val="E34D59"/>
                </a:solidFill>
              </a:rPr>
              <a:t>退回补充材料是过程状态，不等同于不予通过。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A9FD6-1CA4-40E8-B0BB-6FFE23B9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14</a:t>
            </a:r>
          </a:p>
        </p:txBody>
      </p:sp>
    </p:spTree>
    <p:extLst>
      <p:ext uri="{BB962C8B-B14F-4D97-AF65-F5344CB8AC3E}">
        <p14:creationId xmlns:p14="http://schemas.microsoft.com/office/powerpoint/2010/main" val="16556548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A3D050-F316-4B75-93F5-559FC0F6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需求规格说明书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1CD46-42C9-4758-86EF-BF2EFCFF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329"/>
                </a:solidFill>
              </a:defRPr>
            </a:pPr>
            <a:r>
              <a:rPr sz="2700" b="1">
                <a:solidFill>
                  <a:srgbClr val="1F2329"/>
                </a:solidFill>
              </a:rPr>
              <a:t>证书认定详情页围绕三类信息组织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A9024-0B4A-4A5F-AA64-CEEE29D3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01BD9-1932-46A8-B691-C31E2BC3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2667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7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ED8C8-9E47-4865-9318-8E402CD5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75A"/>
                </a:solidFill>
              </a:defRPr>
            </a:pPr>
            <a:r>
              <a:rPr sz="1800" b="1">
                <a:solidFill>
                  <a:srgbClr val="00875A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406A8-EF6D-4C0E-9937-A2A9DBC7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050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9"/>
                </a:solidFill>
              </a:defRPr>
            </a:pPr>
            <a:r>
              <a:rPr sz="1350" b="1">
                <a:solidFill>
                  <a:srgbClr val="1F2329"/>
                </a:solidFill>
              </a:rPr>
              <a:t>证书信息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59F17-CBD4-43FB-8297-2B838E2B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432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标题、编号、认可机构、标准、认证范围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1D9AB-D9B9-4C2F-8615-C049FE94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2667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46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36C65-63B7-4279-AF30-7D4737E9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86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46000"/>
                </a:solidFill>
              </a:defRPr>
            </a:pPr>
            <a:r>
              <a:rPr sz="1800" b="1">
                <a:solidFill>
                  <a:srgbClr val="C46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C02F1-95C0-42AB-AA5E-EDE70140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050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9"/>
                </a:solidFill>
              </a:defRPr>
            </a:pPr>
            <a:r>
              <a:rPr sz="1350" b="1">
                <a:solidFill>
                  <a:srgbClr val="1F2329"/>
                </a:solidFill>
              </a:rPr>
              <a:t>归档材料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A7BA8-35B6-4399-98AE-0907B729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432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48 项材料树和具体文件预览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383CD-C59B-4399-9463-451F8253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2667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34D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B6C33-C577-42CE-8193-18F8F2DF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86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34D59"/>
                </a:solidFill>
              </a:defRPr>
            </a:pPr>
            <a:r>
              <a:rPr sz="1800" b="1">
                <a:solidFill>
                  <a:srgbClr val="E34D59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BEB25-3656-4C84-B401-B0A5F677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050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9"/>
                </a:solidFill>
              </a:defRPr>
            </a:pPr>
            <a:r>
              <a:rPr sz="1350" b="1">
                <a:solidFill>
                  <a:srgbClr val="1F2329"/>
                </a:solidFill>
              </a:rPr>
              <a:t>决定操作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F50D4-54AE-4419-A4BB-E80E360A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432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通过、补充材料或不予通过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B041F-C082-45FD-97C0-D78B04FF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72000"/>
            <a:ext cx="8382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EC438-E81D-4EE1-8BC4-9C5F81E1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34D59"/>
                </a:solidFill>
              </a:defRPr>
            </a:pPr>
            <a:r>
              <a:rPr sz="1725" b="1">
                <a:solidFill>
                  <a:srgbClr val="E34D59"/>
                </a:solidFill>
              </a:rPr>
              <a:t>底线：具体文件只作为证据，不在文件行形成决定状态。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6AF13-B76F-4D92-B2F0-3D699C91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15</a:t>
            </a:r>
          </a:p>
        </p:txBody>
      </p:sp>
    </p:spTree>
    <p:extLst>
      <p:ext uri="{BB962C8B-B14F-4D97-AF65-F5344CB8AC3E}">
        <p14:creationId xmlns:p14="http://schemas.microsoft.com/office/powerpoint/2010/main" val="1080772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E8DEF-DD91-46CD-93D8-B03111BE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需求规格说明书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FF6F8-F2FE-4358-AC0E-685EF3B1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329"/>
                </a:solidFill>
              </a:defRPr>
            </a:pPr>
            <a:r>
              <a:rPr sz="2700" b="1">
                <a:solidFill>
                  <a:srgbClr val="1F2329"/>
                </a:solidFill>
              </a:rPr>
              <a:t>状态机要覆盖五条状态轨道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1596F-E191-4A0D-AA49-75610A42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E192C-D6A3-4B67-B1BB-DA60ED56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38483-368E-490A-886C-D2F09EE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52D9"/>
                </a:solidFill>
              </a:defRPr>
            </a:pPr>
            <a:r>
              <a:rPr sz="1725" b="1">
                <a:solidFill>
                  <a:srgbClr val="0052D9"/>
                </a:solidFill>
              </a:rPr>
              <a:t>任务状态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82549-0B87-490D-BAE9-2B895AEB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3"/>
                </a:solidFill>
              </a:defRPr>
            </a:pPr>
            <a:r>
              <a:rPr sz="1425" b="0">
                <a:solidFill>
                  <a:srgbClr val="5F6673"/>
                </a:solidFill>
              </a:rPr>
              <a:t>归档、初评、二评、认证决定、结果态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F2348-9CDC-4CE1-8035-F8B2D60B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13586-C6AF-4A48-AC75-45E55CB5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71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6000"/>
                </a:solidFill>
              </a:defRPr>
            </a:pPr>
            <a:r>
              <a:rPr sz="1725" b="1">
                <a:solidFill>
                  <a:srgbClr val="C46000"/>
                </a:solidFill>
              </a:rPr>
              <a:t>问题状态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85637-ADC1-49DC-8773-3480B874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9080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3"/>
                </a:solidFill>
              </a:defRPr>
            </a:pPr>
            <a:r>
              <a:rPr sz="1425" b="0">
                <a:solidFill>
                  <a:srgbClr val="5F6673"/>
                </a:solidFill>
              </a:rPr>
              <a:t>登记、整改、通过、退回、撤回、关闭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D0168-562C-4464-9C5A-258DEFC8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28786-90D5-482D-B3D9-ACE1D2F2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52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75A"/>
                </a:solidFill>
              </a:defRPr>
            </a:pPr>
            <a:r>
              <a:rPr sz="1725" b="1">
                <a:solidFill>
                  <a:srgbClr val="00875A"/>
                </a:solidFill>
              </a:rPr>
              <a:t>专家状态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B18E4-EB60-45E5-AE08-B2CA0C89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718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3"/>
                </a:solidFill>
              </a:defRPr>
            </a:pPr>
            <a:r>
              <a:rPr sz="1425" b="0">
                <a:solidFill>
                  <a:srgbClr val="5F6673"/>
                </a:solidFill>
              </a:rPr>
              <a:t>待评定、进行中、已提交、只读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C07B6-FD8B-478D-AD7D-B639121A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0807D-9E92-4F38-BFE1-D0DA2ED2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339D8"/>
                </a:solidFill>
              </a:defRPr>
            </a:pPr>
            <a:r>
              <a:rPr sz="1725" b="1">
                <a:solidFill>
                  <a:srgbClr val="6339D8"/>
                </a:solidFill>
              </a:rPr>
              <a:t>体系状态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CB39A-3E42-4BA0-A26D-3F157285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5290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3"/>
                </a:solidFill>
              </a:defRPr>
            </a:pPr>
            <a:r>
              <a:rPr sz="1425" b="0">
                <a:solidFill>
                  <a:srgbClr val="5F6673"/>
                </a:solidFill>
              </a:rPr>
              <a:t>可通过、需退回、已通过、只读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D33CE-99AF-4CFB-987C-585EC10C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585E8-CD74-4730-A2E4-29D0BE1F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14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34D59"/>
                </a:solidFill>
              </a:defRPr>
            </a:pPr>
            <a:r>
              <a:rPr sz="1725" b="1">
                <a:solidFill>
                  <a:srgbClr val="E34D59"/>
                </a:solidFill>
              </a:rPr>
              <a:t>领域决定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D07EDC-2198-4C6E-97FB-ACF712E2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339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3"/>
                </a:solidFill>
              </a:defRPr>
            </a:pPr>
            <a:r>
              <a:rPr sz="1425" b="0">
                <a:solidFill>
                  <a:srgbClr val="5F6673"/>
                </a:solidFill>
              </a:rPr>
              <a:t>待评定、待补充、已通过、不予通过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1DD3E-FD69-403B-BF8B-64753469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16</a:t>
            </a:r>
          </a:p>
        </p:txBody>
      </p:sp>
    </p:spTree>
    <p:extLst>
      <p:ext uri="{BB962C8B-B14F-4D97-AF65-F5344CB8AC3E}">
        <p14:creationId xmlns:p14="http://schemas.microsoft.com/office/powerpoint/2010/main" val="6187105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CB9C2-7FC1-405A-9277-315E2988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需求规格说明书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581DE-FBFE-4F89-ACEF-E4F7F63B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329"/>
                </a:solidFill>
              </a:defRPr>
            </a:pPr>
            <a:r>
              <a:rPr sz="2700" b="1">
                <a:solidFill>
                  <a:srgbClr val="1F2329"/>
                </a:solidFill>
              </a:rPr>
              <a:t>开发拆解要围绕对象和校验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31E21-1F84-4FEE-924C-30734D09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44E7D-ECFB-49B0-B71D-D4B233DE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981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DC34A-97C7-4605-8371-2F2BB178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335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52D9"/>
                </a:solidFill>
              </a:defRPr>
            </a:pPr>
            <a:r>
              <a:rPr sz="1875" b="1">
                <a:solidFill>
                  <a:srgbClr val="0052D9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FFDA2-F5FA-46DD-AF8D-E44541B1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9335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统一数据源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B8EA1-2C89-46B6-98D0-E4C8D851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431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3"/>
                </a:solidFill>
              </a:defRPr>
            </a:pPr>
            <a:r>
              <a:rPr sz="1500" b="0">
                <a:solidFill>
                  <a:srgbClr val="5F6673"/>
                </a:solidFill>
              </a:rPr>
              <a:t>材料清单、文件库、专家库、证书和日志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FEC47-FAC5-4C5B-AD14-E4F20910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981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EEA67-9822-4976-A930-295DDAFC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289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52D9"/>
                </a:solidFill>
              </a:defRPr>
            </a:pPr>
            <a:r>
              <a:rPr sz="1875" b="1">
                <a:solidFill>
                  <a:srgbClr val="0052D9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02687-87C2-4AF4-B109-0F31508E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289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权限范围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8A434-1B29-4B0C-8F09-8F8D8076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3"/>
                </a:solidFill>
              </a:defRPr>
            </a:pPr>
            <a:r>
              <a:rPr sz="1500" b="0">
                <a:solidFill>
                  <a:srgbClr val="5F6673"/>
                </a:solidFill>
              </a:rPr>
              <a:t>角色、机构、部门、体系和专业代码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64342-0BDB-4F23-9EBF-F445891A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981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378C8-0082-45D1-8E2A-BD3A4263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242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52D9"/>
                </a:solidFill>
              </a:defRPr>
            </a:pPr>
            <a:r>
              <a:rPr sz="1875" b="1">
                <a:solidFill>
                  <a:srgbClr val="0052D9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7BDE9-8065-4A01-A425-D5AA7B10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242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校验一致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A8490-DD1E-4D15-A4A7-AEB01035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338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3"/>
                </a:solidFill>
              </a:defRPr>
            </a:pPr>
            <a:r>
              <a:rPr sz="1500" b="0">
                <a:solidFill>
                  <a:srgbClr val="5F6673"/>
                </a:solidFill>
              </a:rPr>
              <a:t>前端禁用原因与后端规则一致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B3A7A-1F3F-4FAE-BFF6-1ECF5643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9810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8B4B6-6206-42DF-B368-3975622F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196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52D9"/>
                </a:solidFill>
              </a:defRPr>
            </a:pPr>
            <a:r>
              <a:rPr sz="1875" b="1">
                <a:solidFill>
                  <a:srgbClr val="0052D9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E8457-D4B7-4951-B2B9-BA91F282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19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并发控制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C0B7CB-AF43-4BF8-A6E4-554607F2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291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3"/>
                </a:solidFill>
              </a:defRPr>
            </a:pPr>
            <a:r>
              <a:rPr sz="1500" b="0">
                <a:solidFill>
                  <a:srgbClr val="5F6673"/>
                </a:solidFill>
              </a:rPr>
              <a:t>提交决定时校验任务版本和状态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C00F2-2566-429D-87C3-142D3AE6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17</a:t>
            </a:r>
          </a:p>
        </p:txBody>
      </p:sp>
    </p:spTree>
    <p:extLst>
      <p:ext uri="{BB962C8B-B14F-4D97-AF65-F5344CB8AC3E}">
        <p14:creationId xmlns:p14="http://schemas.microsoft.com/office/powerpoint/2010/main" val="10374102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CCCA60-119F-4116-A6A3-241D3143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需求规格说明书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C0ECD-DD4D-49C4-9D10-07EF3471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329"/>
                </a:solidFill>
              </a:defRPr>
            </a:pPr>
            <a:r>
              <a:rPr sz="2700" b="1">
                <a:solidFill>
                  <a:srgbClr val="1F2329"/>
                </a:solidFill>
              </a:rPr>
              <a:t>测试验收要覆盖口径、权限、状态和追溯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72EDB-319D-4FE0-910A-321551C9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51936-7281-4D51-8DAF-9950C9CF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3CF25-A601-4BF4-92E7-FAE30ED9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76200" cy="13525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461AB-FB9B-4E13-BF34-3D4981D1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62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统一口径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17BFF-4B49-446B-9A60-BF7925B5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Q/E/S/F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7600A-60EB-4597-BB14-3E42426A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48 项材料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3FA6E-A7C7-4638-ACA3-9DBD4679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材料项级问题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02046-F1F3-47DC-A468-553E8078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BBCC7-E123-4E89-B034-026F81BE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81200"/>
            <a:ext cx="76200" cy="13525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875A"/>
          </a:solidFill>
          <a:ln xmlns:a="http://schemas.openxmlformats.org/drawingml/2006/main" w="9525">
            <a:solidFill>
              <a:srgbClr val="0087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A6002-1A7C-4148-B079-432D1B0B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62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75A"/>
                </a:solidFill>
              </a:defRPr>
            </a:pPr>
            <a:r>
              <a:rPr sz="1800" b="1">
                <a:solidFill>
                  <a:srgbClr val="00875A"/>
                </a:solidFill>
              </a:rPr>
              <a:t>权限边界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BB158-9FAF-4482-8CE0-BD57B06E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角色不可越权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ED773-7F12-4639-826B-52A035BB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05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专家只看授权体系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B1164-B549-4EE4-A0A4-63B13C5E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09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结果态只读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F311B-AAFD-48B9-8CEB-6639C170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B1E4B-6099-400D-8778-6FAC0C29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81200"/>
            <a:ext cx="76200" cy="13525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46000"/>
          </a:solidFill>
          <a:ln xmlns:a="http://schemas.openxmlformats.org/drawingml/2006/main" w="9525">
            <a:solidFill>
              <a:srgbClr val="C46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1EDEF-A8C8-4135-AE93-A7453C29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6000"/>
                </a:solidFill>
              </a:defRPr>
            </a:pPr>
            <a:r>
              <a:rPr sz="1800" b="1">
                <a:solidFill>
                  <a:srgbClr val="C46000"/>
                </a:solidFill>
              </a:rPr>
              <a:t>状态路径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E1043-B15A-4E5E-93AA-A3D962C5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00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初评退回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981DA-694C-4C3E-8D6A-D32BF932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05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二评退回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1FD9A0-3F68-4DD2-AE0A-568F9D5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9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认证决定补充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49FC8-2AFB-452B-82A3-5E8E04A3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43350"/>
            <a:ext cx="3143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A79CC-2F94-4568-AF40-55938C81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76200" cy="1295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339D8"/>
          </a:solidFill>
          <a:ln xmlns:a="http://schemas.openxmlformats.org/drawingml/2006/main" w="9525">
            <a:solidFill>
              <a:srgbClr val="6339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24148E-B3A6-4591-B374-5BFFCFD9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52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39D8"/>
                </a:solidFill>
              </a:defRPr>
            </a:pPr>
            <a:r>
              <a:rPr sz="1800" b="1">
                <a:solidFill>
                  <a:srgbClr val="6339D8"/>
                </a:solidFill>
              </a:rPr>
              <a:t>可追溯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2628B8-8C81-4995-A60D-727575CD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91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确认弹窗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1E8421-121B-4FB0-BB7D-BDE033FA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95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必要原因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FC5AD4-169E-497F-BF7B-C380BAFA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00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日志和通知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FF23B3-F366-4380-955D-957AD85D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3350"/>
            <a:ext cx="3143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5EB178-1256-461B-8007-B28B833F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71950"/>
            <a:ext cx="76200" cy="1295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4D59"/>
          </a:solidFill>
          <a:ln xmlns:a="http://schemas.openxmlformats.org/drawingml/2006/main" w="9525">
            <a:solidFill>
              <a:srgbClr val="E34D5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EDBDFE-ABCF-4DCD-90F2-84EC989D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52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4D59"/>
                </a:solidFill>
              </a:defRPr>
            </a:pPr>
            <a:r>
              <a:rPr sz="1800" b="1">
                <a:solidFill>
                  <a:srgbClr val="E34D59"/>
                </a:solidFill>
              </a:rPr>
              <a:t>决定结果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D7E881-0907-48E2-91B6-324EB017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91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认证通过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21A5B4-5637-4230-A097-69B47646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95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待补充材料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EAFD1A-54D3-4AE1-B6E5-BC11C4E9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00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不予通过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C01ED7-D65E-43E5-A02E-C2192DF4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体系认证平台需求讲解 / 18</a:t>
            </a:r>
          </a:p>
        </p:txBody>
      </p:sp>
    </p:spTree>
    <p:extLst>
      <p:ext uri="{BB962C8B-B14F-4D97-AF65-F5344CB8AC3E}">
        <p14:creationId xmlns:p14="http://schemas.microsoft.com/office/powerpoint/2010/main" val="1851824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2026-07-16T22:33:37.0260000Z</dcterms:created>
  <dcterms:modified xsi:type="dcterms:W3CDTF">2026-07-16T22:33:37.0260000Z</dcterms:modified>
</coreProperties>
</file>