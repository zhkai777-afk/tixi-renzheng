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f4f3d9fbe864919" /><Relationship Type="http://schemas.openxmlformats.org/officeDocument/2006/relationships/extended-properties" Target="/docProps/app.xml" Id="Rbf16a8fa6105475a" /><Relationship Type="http://schemas.openxmlformats.org/officeDocument/2006/relationships/officeDocument" Target="/ppt/presentation.xml" Id="R6d199740ac66425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2c85fb9843d43e5"/>
  </p:sldMasterIdLst>
  <p:notesMasterIdLst>
    <p:notesMasterId xmlns:r="http://schemas.openxmlformats.org/officeDocument/2006/relationships" r:id="R432664bc7fdf4cbf"/>
  </p:notesMasterIdLst>
  <p:sldIdLst>
    <p:sldId xmlns:r="http://schemas.openxmlformats.org/officeDocument/2006/relationships" id="256" r:id="Rc8568cc278ad4136"/>
    <p:sldId xmlns:r="http://schemas.openxmlformats.org/officeDocument/2006/relationships" id="257" r:id="R750e9167ea4d49f3"/>
    <p:sldId xmlns:r="http://schemas.openxmlformats.org/officeDocument/2006/relationships" id="258" r:id="R0c2c5e60d3e24443"/>
    <p:sldId xmlns:r="http://schemas.openxmlformats.org/officeDocument/2006/relationships" id="259" r:id="R5d19a88314704a55"/>
    <p:sldId xmlns:r="http://schemas.openxmlformats.org/officeDocument/2006/relationships" id="260" r:id="R387a288e916844d5"/>
    <p:sldId xmlns:r="http://schemas.openxmlformats.org/officeDocument/2006/relationships" id="261" r:id="R27b7c6b741ec45d3"/>
    <p:sldId xmlns:r="http://schemas.openxmlformats.org/officeDocument/2006/relationships" id="262" r:id="Rea2bf9ab8c314b1d"/>
    <p:sldId xmlns:r="http://schemas.openxmlformats.org/officeDocument/2006/relationships" id="263" r:id="R188e52d00f3c48d2"/>
    <p:sldId xmlns:r="http://schemas.openxmlformats.org/officeDocument/2006/relationships" id="264" r:id="R52814c2cb44d457b"/>
    <p:sldId xmlns:r="http://schemas.openxmlformats.org/officeDocument/2006/relationships" id="265" r:id="R759cd79931304cb8"/>
    <p:sldId xmlns:r="http://schemas.openxmlformats.org/officeDocument/2006/relationships" id="266" r:id="R277fa54248c54a3c"/>
    <p:sldId xmlns:r="http://schemas.openxmlformats.org/officeDocument/2006/relationships" id="267" r:id="Rbed250af4c184053"/>
    <p:sldId xmlns:r="http://schemas.openxmlformats.org/officeDocument/2006/relationships" id="268" r:id="R3c843adfa1894a2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497a2f0df664b10" /><Relationship Type="http://schemas.openxmlformats.org/officeDocument/2006/relationships/slideMaster" Target="/ppt/slideMasters/slideMaster1.xml" Id="Rd2c85fb9843d43e5" /><Relationship Type="http://schemas.openxmlformats.org/officeDocument/2006/relationships/notesMaster" Target="/ppt/notesMasters/notesMaster1.xml" Id="R432664bc7fdf4cbf" /><Relationship Type="http://schemas.openxmlformats.org/officeDocument/2006/relationships/presProps" Target="/ppt/presProps.xml" Id="R7870b2b8e5714501" /><Relationship Type="http://schemas.openxmlformats.org/officeDocument/2006/relationships/tableStyles" Target="/ppt/tableStyles.xml" Id="Re7ad441857884edd" /><Relationship Type="http://schemas.openxmlformats.org/officeDocument/2006/relationships/slide" Target="/ppt/slides/slide1.xml" Id="Rc8568cc278ad4136" /><Relationship Type="http://schemas.openxmlformats.org/officeDocument/2006/relationships/slide" Target="/ppt/slides/slide2.xml" Id="R750e9167ea4d49f3" /><Relationship Type="http://schemas.openxmlformats.org/officeDocument/2006/relationships/slide" Target="/ppt/slides/slide3.xml" Id="R0c2c5e60d3e24443" /><Relationship Type="http://schemas.openxmlformats.org/officeDocument/2006/relationships/slide" Target="/ppt/slides/slide4.xml" Id="R5d19a88314704a55" /><Relationship Type="http://schemas.openxmlformats.org/officeDocument/2006/relationships/slide" Target="/ppt/slides/slide5.xml" Id="R387a288e916844d5" /><Relationship Type="http://schemas.openxmlformats.org/officeDocument/2006/relationships/slide" Target="/ppt/slides/slide6.xml" Id="R27b7c6b741ec45d3" /><Relationship Type="http://schemas.openxmlformats.org/officeDocument/2006/relationships/slide" Target="/ppt/slides/slide7.xml" Id="Rea2bf9ab8c314b1d" /><Relationship Type="http://schemas.openxmlformats.org/officeDocument/2006/relationships/slide" Target="/ppt/slides/slide8.xml" Id="R188e52d00f3c48d2" /><Relationship Type="http://schemas.openxmlformats.org/officeDocument/2006/relationships/slide" Target="/ppt/slides/slide9.xml" Id="R52814c2cb44d457b" /><Relationship Type="http://schemas.openxmlformats.org/officeDocument/2006/relationships/slide" Target="/ppt/slides/slide10.xml" Id="R759cd79931304cb8" /><Relationship Type="http://schemas.openxmlformats.org/officeDocument/2006/relationships/slide" Target="/ppt/slides/slide11.xml" Id="R277fa54248c54a3c" /><Relationship Type="http://schemas.openxmlformats.org/officeDocument/2006/relationships/slide" Target="/ppt/slides/slide12.xml" Id="Rbed250af4c184053" /><Relationship Type="http://schemas.openxmlformats.org/officeDocument/2006/relationships/slide" Target="/ppt/slides/slide13.xml" Id="R3c843adfa1894a2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f76adba8b064fd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ead7c39a4854147" /><Relationship Type="http://schemas.openxmlformats.org/officeDocument/2006/relationships/notesMaster" Target="/ppt/notesMasters/notesMaster1.xml" Id="Re14a72a4300e408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5e56f9e89264c97" /><Relationship Type="http://schemas.openxmlformats.org/officeDocument/2006/relationships/notesMaster" Target="/ppt/notesMasters/notesMaster1.xml" Id="Rf3ca8c1a1e2f4fc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4e731b85a1048e7" /><Relationship Type="http://schemas.openxmlformats.org/officeDocument/2006/relationships/notesMaster" Target="/ppt/notesMasters/notesMaster1.xml" Id="R5c3e6ca5ecb74b4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eac2b05defc4e04" /><Relationship Type="http://schemas.openxmlformats.org/officeDocument/2006/relationships/notesMaster" Target="/ppt/notesMasters/notesMaster1.xml" Id="R3a766f5b5245439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b0fb77d28714eab" /><Relationship Type="http://schemas.openxmlformats.org/officeDocument/2006/relationships/notesMaster" Target="/ppt/notesMasters/notesMaster1.xml" Id="Re9db98807d7a42a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436997144cb4456" /><Relationship Type="http://schemas.openxmlformats.org/officeDocument/2006/relationships/notesMaster" Target="/ppt/notesMasters/notesMaster1.xml" Id="Rb206615af39643f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94446fc7c094485" /><Relationship Type="http://schemas.openxmlformats.org/officeDocument/2006/relationships/notesMaster" Target="/ppt/notesMasters/notesMaster1.xml" Id="Rdcebb8481234475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463c85f00074637" /><Relationship Type="http://schemas.openxmlformats.org/officeDocument/2006/relationships/notesMaster" Target="/ppt/notesMasters/notesMaster1.xml" Id="R56175e0e19b8460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a1816cb2ea44e2f" /><Relationship Type="http://schemas.openxmlformats.org/officeDocument/2006/relationships/notesMaster" Target="/ppt/notesMasters/notesMaster1.xml" Id="R79d78f880d69480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eb0759e1660421e" /><Relationship Type="http://schemas.openxmlformats.org/officeDocument/2006/relationships/notesMaster" Target="/ppt/notesMasters/notesMaster1.xml" Id="Rce84c927f77f4c7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70700e2a1024df2" /><Relationship Type="http://schemas.openxmlformats.org/officeDocument/2006/relationships/notesMaster" Target="/ppt/notesMasters/notesMaster1.xml" Id="Ra1b24e59d35d472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147872ea50a489e" /><Relationship Type="http://schemas.openxmlformats.org/officeDocument/2006/relationships/notesMaster" Target="/ppt/notesMasters/notesMaster1.xml" Id="R22606fb2df20410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836fcc38d954806" /><Relationship Type="http://schemas.openxmlformats.org/officeDocument/2006/relationships/notesMaster" Target="/ppt/notesMasters/notesMaster1.xml" Id="R7ea1eb8a71bd4e6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65d9af7c984e5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c403ddd58f54c59" /><Relationship Type="http://schemas.openxmlformats.org/officeDocument/2006/relationships/slideLayout" Target="/ppt/slideLayouts/slideLayout1.xml" Id="R46fc9f6378c54f9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6fc9f6378c54f9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32d749a2744238" /><Relationship Type="http://schemas.openxmlformats.org/officeDocument/2006/relationships/notesSlide" Target="/ppt/notesSlides/notesSlide1.xml" Id="Re14c363efcab4f0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daa4662a4d4bec" /><Relationship Type="http://schemas.openxmlformats.org/officeDocument/2006/relationships/notesSlide" Target="/ppt/notesSlides/notesSlide2.xml" Id="Re3eb9f14e9584d9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8ef8a09bba4c1e" /><Relationship Type="http://schemas.openxmlformats.org/officeDocument/2006/relationships/notesSlide" Target="/ppt/notesSlides/notesSlide3.xml" Id="R781b943f9666408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3388a871be4658" /><Relationship Type="http://schemas.openxmlformats.org/officeDocument/2006/relationships/notesSlide" Target="/ppt/notesSlides/notesSlide4.xml" Id="R3dfe3be7952d460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838302812949f7" /><Relationship Type="http://schemas.openxmlformats.org/officeDocument/2006/relationships/notesSlide" Target="/ppt/notesSlides/notesSlide5.xml" Id="Rb6ca0319d10349a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f844a86c284197" /><Relationship Type="http://schemas.openxmlformats.org/officeDocument/2006/relationships/notesSlide" Target="/ppt/notesSlides/notesSlide6.xml" Id="R204bd7e096ae45d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2c73f92f774645" /><Relationship Type="http://schemas.openxmlformats.org/officeDocument/2006/relationships/notesSlide" Target="/ppt/notesSlides/notesSlide7.xml" Id="R9734a13e34a2421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58b8ef9f8a4a19" /><Relationship Type="http://schemas.openxmlformats.org/officeDocument/2006/relationships/notesSlide" Target="/ppt/notesSlides/notesSlide8.xml" Id="R0d2af79f0907484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e23c00163c41b2" /><Relationship Type="http://schemas.openxmlformats.org/officeDocument/2006/relationships/notesSlide" Target="/ppt/notesSlides/notesSlide9.xml" Id="Rfe862e71bdaa48e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d76378186148e5" /><Relationship Type="http://schemas.openxmlformats.org/officeDocument/2006/relationships/notesSlide" Target="/ppt/notesSlides/notesSlide10.xml" Id="R49fef836fc97485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d3a0d7d5564ce4" /><Relationship Type="http://schemas.openxmlformats.org/officeDocument/2006/relationships/notesSlide" Target="/ppt/notesSlides/notesSlide11.xml" Id="R1e97521bf49f4bc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19b2ce21124ba0" /><Relationship Type="http://schemas.openxmlformats.org/officeDocument/2006/relationships/notesSlide" Target="/ppt/notesSlides/notesSlide12.xml" Id="Rb98075e2a9974cc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b7726ee94842f1" /><Relationship Type="http://schemas.openxmlformats.org/officeDocument/2006/relationships/notesSlide" Target="/ppt/notesSlides/notesSlide13.xml" Id="R3ca39a5a16544a6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B22047-DF7F-4469-8657-7B1AFD6BF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5562600"/>
          </a:xfrm>
          <a:prstGeom xmlns:a="http://schemas.openxmlformats.org/drawingml/2006/main" prst="roundRect">
            <a:avLst>
              <a:gd name="adj" fmla="val 13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508ED3-8A30-49AB-9486-9D7ACD0E4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3345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52D9"/>
                </a:solidFill>
              </a:defRPr>
            </a:pPr>
            <a:r>
              <a:rPr sz="1950" b="1">
                <a:solidFill>
                  <a:srgbClr val="0052D9"/>
                </a:solidFill>
              </a:rPr>
              <a:t>体系认证平台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F85300-8694-4D0A-B6F2-31A527DAD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90700"/>
            <a:ext cx="8096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1F2329"/>
                </a:solidFill>
              </a:defRPr>
            </a:pPr>
            <a:r>
              <a:rPr sz="4500" b="1">
                <a:solidFill>
                  <a:srgbClr val="1F2329"/>
                </a:solidFill>
              </a:rPr>
              <a:t>业务流程与角色协作讲解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B33893-2B39-4162-86A0-0BA7693BE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673"/>
                </a:solidFill>
              </a:defRPr>
            </a:pPr>
            <a:r>
              <a:rPr sz="1800" b="0">
                <a:solidFill>
                  <a:srgbClr val="5F6673"/>
                </a:solidFill>
              </a:rPr>
              <a:t>面向开发人员和测试人员 / 管理端归档材料与评定链路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73E8A0-A959-475A-AEBA-4DC576612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71950"/>
            <a:ext cx="4572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F1FF"/>
          </a:solidFill>
          <a:ln xmlns:a="http://schemas.openxmlformats.org/drawingml/2006/main" w="9525">
            <a:solidFill>
              <a:srgbClr val="0052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E96F95-0032-4053-A52E-8EB4D20AF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005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52D9"/>
                </a:solidFill>
              </a:defRPr>
            </a:pPr>
            <a:r>
              <a:rPr sz="1200" b="1">
                <a:solidFill>
                  <a:srgbClr val="0052D9"/>
                </a:solidFill>
              </a:rPr>
              <a:t>Q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BE1D6B-C8F7-4B5C-958B-C7DDF5BB5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171950"/>
            <a:ext cx="4572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6F7F1"/>
          </a:solidFill>
          <a:ln xmlns:a="http://schemas.openxmlformats.org/drawingml/2006/main" w="9525">
            <a:solidFill>
              <a:srgbClr val="00875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3BC3A6-965E-4B53-BA98-6A871D582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2005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875A"/>
                </a:solidFill>
              </a:defRPr>
            </a:pPr>
            <a:r>
              <a:rPr sz="1200" b="1">
                <a:solidFill>
                  <a:srgbClr val="00875A"/>
                </a:solidFill>
              </a:rPr>
              <a:t>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C53FD0-D946-448B-8EC0-722C7C64A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171950"/>
            <a:ext cx="4572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3E5"/>
          </a:solidFill>
          <a:ln xmlns:a="http://schemas.openxmlformats.org/drawingml/2006/main" w="9525">
            <a:solidFill>
              <a:srgbClr val="C46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888C69-976B-44D3-AA6D-47E19AD51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2005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46000"/>
                </a:solidFill>
              </a:defRPr>
            </a:pPr>
            <a:r>
              <a:rPr sz="1200" b="1">
                <a:solidFill>
                  <a:srgbClr val="C46000"/>
                </a:solidFill>
              </a:rPr>
              <a:t>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D6FB0D-CDB9-45E2-A772-D2B79CCD5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171950"/>
            <a:ext cx="4572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1EDFF"/>
          </a:solidFill>
          <a:ln xmlns:a="http://schemas.openxmlformats.org/drawingml/2006/main" w="9525">
            <a:solidFill>
              <a:srgbClr val="6339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C01B5C-1735-4705-8512-7BE3180F5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2005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339D8"/>
                </a:solidFill>
              </a:defRPr>
            </a:pPr>
            <a:r>
              <a:rPr sz="1200" b="1">
                <a:solidFill>
                  <a:srgbClr val="6339D8"/>
                </a:solidFill>
              </a:rPr>
              <a:t>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DB1391-F247-4990-BDFB-A55F3C40D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8630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2329"/>
                </a:solidFill>
              </a:defRPr>
            </a:pPr>
            <a:r>
              <a:rPr sz="1650" b="1">
                <a:solidFill>
                  <a:srgbClr val="1F2329"/>
                </a:solidFill>
              </a:rPr>
              <a:t>核心材料口径：MSF11-20 / 48 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D21637-D257-4DE7-A0DA-C5FFB8AAF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67300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3"/>
                </a:solidFill>
              </a:defRPr>
            </a:pPr>
            <a:r>
              <a:rPr sz="1350" b="0">
                <a:solidFill>
                  <a:srgbClr val="5F6673"/>
                </a:solidFill>
              </a:rPr>
              <a:t>任务样例：TASK-2026-001 · 客户A · 四体系整合审核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F33BA9-7BE9-4616-845A-8DDE3C94A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914400"/>
            <a:ext cx="2247900" cy="417195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3F7FF"/>
          </a:solidFill>
          <a:ln xmlns:a="http://schemas.openxmlformats.org/drawingml/2006/main" w="9525">
            <a:solidFill>
              <a:srgbClr val="D9E6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69F696-9447-47E2-A874-962D92F42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352550"/>
            <a:ext cx="171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F2329"/>
                </a:solidFill>
              </a:defRPr>
            </a:pPr>
            <a:r>
              <a:rPr sz="2850" b="1">
                <a:solidFill>
                  <a:srgbClr val="1F2329"/>
                </a:solidFill>
              </a:rPr>
              <a:t>先理解业务闭环，再讨论页面和测试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2772C5-4712-4479-BE79-FC4C4A747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A9099"/>
                </a:solidFill>
              </a:defRPr>
            </a:pPr>
            <a:r>
              <a:rPr sz="1050" b="0">
                <a:solidFill>
                  <a:srgbClr val="8A9099"/>
                </a:solidFill>
              </a:rPr>
              <a:t>体系认证项目讲解 / 01</a:t>
            </a:r>
          </a:p>
        </p:txBody>
      </p:sp>
    </p:spTree>
    <p:extLst>
      <p:ext uri="{BB962C8B-B14F-4D97-AF65-F5344CB8AC3E}">
        <p14:creationId xmlns:p14="http://schemas.microsoft.com/office/powerpoint/2010/main" val="8602743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B0B674-D1ED-4953-97ED-8DBD17AE4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52D9"/>
                </a:solidFill>
              </a:defRPr>
            </a:pPr>
            <a:r>
              <a:rPr sz="1200" b="1">
                <a:solidFill>
                  <a:srgbClr val="0052D9"/>
                </a:solidFill>
              </a:rPr>
              <a:t>讲解主线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8518DD-947B-44F9-8AC0-9E3ED58A9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329"/>
                </a:solidFill>
              </a:defRPr>
            </a:pPr>
            <a:r>
              <a:rPr sz="2850" b="1">
                <a:solidFill>
                  <a:srgbClr val="1F2329"/>
                </a:solidFill>
              </a:rPr>
              <a:t>这不是上传页面，而是一条可追踪的评定闭环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737245-6BE3-4208-8E79-8D691191F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E9B3EC-FD0C-483F-B011-9A3CA3C10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F2329"/>
                </a:solidFill>
              </a:defRPr>
            </a:pPr>
            <a:r>
              <a:rPr sz="2100" b="1">
                <a:solidFill>
                  <a:srgbClr val="1F2329"/>
                </a:solidFill>
              </a:rPr>
              <a:t>系统要回答四个问题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AEAA2B-72F3-4CFC-93CD-D27BB777B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86000"/>
            <a:ext cx="4857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5E8B88-8BB6-4D62-B4F5-E220F844D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574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2329"/>
                </a:solidFill>
              </a:defRPr>
            </a:pPr>
            <a:r>
              <a:rPr sz="1875" b="1">
                <a:solidFill>
                  <a:srgbClr val="1F2329"/>
                </a:solidFill>
              </a:rPr>
              <a:t>材料是否齐全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B36076-3778-4F3F-AAD4-796AC21B2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384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3"/>
                </a:solidFill>
              </a:defRPr>
            </a:pPr>
            <a:r>
              <a:rPr sz="1350" b="0">
                <a:solidFill>
                  <a:srgbClr val="5F6673"/>
                </a:solidFill>
              </a:rPr>
              <a:t>按 Q/E/S/F 和 MSF11-20 计算完整性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E40A98-7F13-4D6F-97DB-CB3E48574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286000"/>
            <a:ext cx="4857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7A1FA9-A1E2-4090-A04B-D45C82C68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574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2329"/>
                </a:solidFill>
              </a:defRPr>
            </a:pPr>
            <a:r>
              <a:rPr sz="1875" b="1">
                <a:solidFill>
                  <a:srgbClr val="1F2329"/>
                </a:solidFill>
              </a:rPr>
              <a:t>谁来判断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1BC1E7-6BAD-42FC-8C19-6B43C8280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384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3"/>
                </a:solidFill>
              </a:defRPr>
            </a:pPr>
            <a:r>
              <a:rPr sz="1350" b="0">
                <a:solidFill>
                  <a:srgbClr val="5F6673"/>
                </a:solidFill>
              </a:rPr>
              <a:t>项目管理、初评管理员、二评管理员、专家分工协作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795425-4CE5-47E9-AC39-3376136FD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4857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82B5D3-3639-4CD8-AC12-44D7872E1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862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2329"/>
                </a:solidFill>
              </a:defRPr>
            </a:pPr>
            <a:r>
              <a:rPr sz="1875" b="1">
                <a:solidFill>
                  <a:srgbClr val="1F2329"/>
                </a:solidFill>
              </a:rPr>
              <a:t>问题落在哪里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8B108A-B641-4411-80FE-E0939D46E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672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3"/>
                </a:solidFill>
              </a:defRPr>
            </a:pPr>
            <a:r>
              <a:rPr sz="1350" b="0">
                <a:solidFill>
                  <a:srgbClr val="5F6673"/>
                </a:solidFill>
              </a:rPr>
              <a:t>问题登记在材料清单项，不登记在具体文件行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F7A2A9-A49A-4CFE-95AA-BC449C930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714750"/>
            <a:ext cx="4857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847D5C-5632-4BD0-B836-3E15FD174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8862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2329"/>
                </a:solidFill>
              </a:defRPr>
            </a:pPr>
            <a:r>
              <a:rPr sz="1875" b="1">
                <a:solidFill>
                  <a:srgbClr val="1F2329"/>
                </a:solidFill>
              </a:rPr>
              <a:t>退回后怎么走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595F64-8944-4F1B-98B3-500BD9DA0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2672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3"/>
                </a:solidFill>
              </a:defRPr>
            </a:pPr>
            <a:r>
              <a:rPr sz="1350" b="0">
                <a:solidFill>
                  <a:srgbClr val="5F6673"/>
                </a:solidFill>
              </a:rPr>
              <a:t>不同阶段退回，对应不同的再次提交路径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6E531B-02BE-4022-8137-E0216884F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673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52D9"/>
                </a:solidFill>
              </a:defRPr>
            </a:pPr>
            <a:r>
              <a:rPr sz="1800" b="1">
                <a:solidFill>
                  <a:srgbClr val="0052D9"/>
                </a:solidFill>
              </a:rPr>
              <a:t>开发要实现规则闭环；测试要验证状态和口径没有偏差。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7659F4-EC44-4BFE-876E-2D75A5C32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A9099"/>
                </a:solidFill>
              </a:defRPr>
            </a:pPr>
            <a:r>
              <a:rPr sz="1050" b="0">
                <a:solidFill>
                  <a:srgbClr val="8A9099"/>
                </a:solidFill>
              </a:rPr>
              <a:t>体系认证项目讲解 / 02</a:t>
            </a:r>
          </a:p>
        </p:txBody>
      </p:sp>
    </p:spTree>
    <p:extLst>
      <p:ext uri="{BB962C8B-B14F-4D97-AF65-F5344CB8AC3E}">
        <p14:creationId xmlns:p14="http://schemas.microsoft.com/office/powerpoint/2010/main" val="16324601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BBF2293-15C1-4CEE-A405-18B35EEFB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52D9"/>
                </a:solidFill>
              </a:defRPr>
            </a:pPr>
            <a:r>
              <a:rPr sz="1200" b="1">
                <a:solidFill>
                  <a:srgbClr val="0052D9"/>
                </a:solidFill>
              </a:rPr>
              <a:t>业务闭环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6CDCE4-4515-42E8-BA9A-F722A8F4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329"/>
                </a:solidFill>
              </a:defRPr>
            </a:pPr>
            <a:r>
              <a:rPr sz="2850" b="1">
                <a:solidFill>
                  <a:srgbClr val="1F2329"/>
                </a:solidFill>
              </a:rPr>
              <a:t>主流程从项目完结开始，到二评通过后结束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C1A13A-5742-45FC-923D-D0DB76407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8ABF94-3748-4AF3-A84C-3AC4174A3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24100"/>
            <a:ext cx="1752600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C6F86D-8677-4671-BFB1-5F3F66093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52D9"/>
                </a:solidFill>
              </a:defRPr>
            </a:pPr>
            <a:r>
              <a:rPr sz="1800" b="1">
                <a:solidFill>
                  <a:srgbClr val="0052D9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2F03DA-1BE6-4597-A03B-D0EDC028A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2329"/>
                </a:solidFill>
              </a:defRPr>
            </a:pPr>
            <a:r>
              <a:rPr sz="1650" b="1">
                <a:solidFill>
                  <a:srgbClr val="1F2329"/>
                </a:solidFill>
              </a:rPr>
              <a:t>认证项目完结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3C946F-42BB-4BE5-8764-532690C9C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19450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673"/>
                </a:solidFill>
              </a:defRPr>
            </a:pPr>
            <a:r>
              <a:rPr sz="1200" b="0">
                <a:solidFill>
                  <a:srgbClr val="5F6673"/>
                </a:solidFill>
              </a:rPr>
              <a:t>自动生成归档任务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0C9D80-0958-429A-8110-B93C81FFC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74320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8A9099"/>
                </a:solidFill>
              </a:defRPr>
            </a:pPr>
            <a:r>
              <a:rPr sz="2550" b="1">
                <a:solidFill>
                  <a:srgbClr val="8A9099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9DF64F-E013-4080-BCB7-E6A6B4A83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1752600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BBBD7F-861D-4E1B-860C-A0E1D28B6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4765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52D9"/>
                </a:solidFill>
              </a:defRPr>
            </a:pPr>
            <a:r>
              <a:rPr sz="1800" b="1">
                <a:solidFill>
                  <a:srgbClr val="0052D9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1E0209-A741-40F1-ADB1-EFDB7EE0E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8575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2329"/>
                </a:solidFill>
              </a:defRPr>
            </a:pPr>
            <a:r>
              <a:rPr sz="1650" b="1">
                <a:solidFill>
                  <a:srgbClr val="1F2329"/>
                </a:solidFill>
              </a:rPr>
              <a:t>归档材料补齐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87FA04-2DC2-4D58-86B0-F70C3D1EB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219450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673"/>
                </a:solidFill>
              </a:defRPr>
            </a:pPr>
            <a:r>
              <a:rPr sz="1200" b="0">
                <a:solidFill>
                  <a:srgbClr val="5F6673"/>
                </a:solidFill>
              </a:rPr>
              <a:t>项目管理人员提交初评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6F4C04-3B57-4D29-8E1F-58004C90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74320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8A9099"/>
                </a:solidFill>
              </a:defRPr>
            </a:pPr>
            <a:r>
              <a:rPr sz="2550" b="1">
                <a:solidFill>
                  <a:srgbClr val="8A9099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D89B90-E933-4331-A233-15DAFEF84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324100"/>
            <a:ext cx="1752600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F1B224-D3AA-4AA0-B0D5-AC4F95B4F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4765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52D9"/>
                </a:solidFill>
              </a:defRPr>
            </a:pPr>
            <a:r>
              <a:rPr sz="1800" b="1">
                <a:solidFill>
                  <a:srgbClr val="0052D9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9F7EAB-6D21-4585-8CFD-721984602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8575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2329"/>
                </a:solidFill>
              </a:defRPr>
            </a:pPr>
            <a:r>
              <a:rPr sz="1650" b="1">
                <a:solidFill>
                  <a:srgbClr val="1F2329"/>
                </a:solidFill>
              </a:rPr>
              <a:t>初次评定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F177FB-08B1-4617-B236-AF4143CE8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219450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673"/>
                </a:solidFill>
              </a:defRPr>
            </a:pPr>
            <a:r>
              <a:rPr sz="1200" b="0">
                <a:solidFill>
                  <a:srgbClr val="5F6673"/>
                </a:solidFill>
              </a:rPr>
              <a:t>通过进入二评；不通过退回补充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693776-F3B2-4A85-8DB4-B65B11B54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74320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8A9099"/>
                </a:solidFill>
              </a:defRPr>
            </a:pPr>
            <a:r>
              <a:rPr sz="2550" b="1">
                <a:solidFill>
                  <a:srgbClr val="8A9099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1CF745-5955-45EC-9785-42064E3E5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24100"/>
            <a:ext cx="1752600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5F4908-85A8-4D81-BA0F-D5A5317C5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4765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52D9"/>
                </a:solidFill>
              </a:defRPr>
            </a:pPr>
            <a:r>
              <a:rPr sz="1800" b="1">
                <a:solidFill>
                  <a:srgbClr val="0052D9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12921E-CE9A-4DD4-849D-538EF2975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8575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2329"/>
                </a:solidFill>
              </a:defRPr>
            </a:pPr>
            <a:r>
              <a:rPr sz="1650" b="1">
                <a:solidFill>
                  <a:srgbClr val="1F2329"/>
                </a:solidFill>
              </a:rPr>
              <a:t>二次评定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6F04D4-C5E4-457A-B1C3-2F5810D80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219450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673"/>
                </a:solidFill>
              </a:defRPr>
            </a:pPr>
            <a:r>
              <a:rPr sz="1200" b="0">
                <a:solidFill>
                  <a:srgbClr val="5F6673"/>
                </a:solidFill>
              </a:rPr>
              <a:t>最终放行或退回整改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9C2933-B385-4143-A5A3-F18913165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74320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8A9099"/>
                </a:solidFill>
              </a:defRPr>
            </a:pPr>
            <a:r>
              <a:rPr sz="2550" b="1">
                <a:solidFill>
                  <a:srgbClr val="8A9099"/>
                </a:solidFill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60C5CD-1F7D-4A6F-81D5-BE3D9B777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324100"/>
            <a:ext cx="1752600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A87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80CEDA-3B8F-4861-A6BC-FA72F93CE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4765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A870"/>
                </a:solidFill>
              </a:defRPr>
            </a:pPr>
            <a:r>
              <a:rPr sz="1800" b="1">
                <a:solidFill>
                  <a:srgbClr val="00A870"/>
                </a:solidFill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F87F85-9538-42FC-8C5D-7E2FC42E1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8575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2329"/>
                </a:solidFill>
              </a:defRPr>
            </a:pPr>
            <a:r>
              <a:rPr sz="1650" b="1">
                <a:solidFill>
                  <a:srgbClr val="1F2329"/>
                </a:solidFill>
              </a:rPr>
              <a:t>已完结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5B8BF6-1354-4F65-8A07-254C4C0B7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19450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673"/>
                </a:solidFill>
              </a:defRPr>
            </a:pPr>
            <a:r>
              <a:rPr sz="1200" b="0">
                <a:solidFill>
                  <a:srgbClr val="5F6673"/>
                </a:solidFill>
              </a:rPr>
              <a:t>二评通过后只读归档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1E8760-7B16-49CC-AE99-4A05BE87B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095750"/>
            <a:ext cx="43243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81D9CE-6345-4CA9-8076-708DB127A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3243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D7B2F"/>
                </a:solidFill>
              </a:defRPr>
            </a:pPr>
            <a:r>
              <a:rPr sz="1650" b="1">
                <a:solidFill>
                  <a:srgbClr val="ED7B2F"/>
                </a:solidFill>
              </a:rPr>
              <a:t>特殊路径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8B6067-1C31-493E-A966-5AC9D6E8E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305300"/>
            <a:ext cx="2552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329"/>
                </a:solidFill>
              </a:defRPr>
            </a:pPr>
            <a:r>
              <a:rPr sz="1350" b="0">
                <a:solidFill>
                  <a:srgbClr val="1F2329"/>
                </a:solidFill>
              </a:rPr>
              <a:t>二评退回后，整改再次提交进入“二评整改待初评确认”，不是重新走完整初评。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2884507-5172-4C1D-9E75-4038D21F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A9099"/>
                </a:solidFill>
              </a:defRPr>
            </a:pPr>
            <a:r>
              <a:rPr sz="1050" b="0">
                <a:solidFill>
                  <a:srgbClr val="8A9099"/>
                </a:solidFill>
              </a:rPr>
              <a:t>体系认证项目讲解 / 03</a:t>
            </a:r>
          </a:p>
        </p:txBody>
      </p:sp>
    </p:spTree>
    <p:extLst>
      <p:ext uri="{BB962C8B-B14F-4D97-AF65-F5344CB8AC3E}">
        <p14:creationId xmlns:p14="http://schemas.microsoft.com/office/powerpoint/2010/main" val="9898485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8E487D-B81A-49A4-BB93-931AF7B27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52D9"/>
                </a:solidFill>
              </a:defRPr>
            </a:pPr>
            <a:r>
              <a:rPr sz="1200" b="1">
                <a:solidFill>
                  <a:srgbClr val="0052D9"/>
                </a:solidFill>
              </a:rPr>
              <a:t>用户角色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A03CD3-7E36-49A9-AA8D-128738CE2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329"/>
                </a:solidFill>
              </a:defRPr>
            </a:pPr>
            <a:r>
              <a:rPr sz="2850" b="1">
                <a:solidFill>
                  <a:srgbClr val="1F2329"/>
                </a:solidFill>
              </a:rPr>
              <a:t>四类用户围绕同一份材料清单协作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0DAA90-FE80-4A58-8D89-C5C6FE655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A20BDF-3141-48F6-9437-F3D20A431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90700"/>
            <a:ext cx="4857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7B09B9-486F-4C6E-A482-576540691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38350"/>
            <a:ext cx="95250" cy="7239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052D9"/>
          </a:solidFill>
          <a:ln xmlns:a="http://schemas.openxmlformats.org/drawingml/2006/main" w="9525">
            <a:solidFill>
              <a:srgbClr val="0052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A0DACC-6630-4542-BFAF-103033A4F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193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F2329"/>
                </a:solidFill>
              </a:defRPr>
            </a:pPr>
            <a:r>
              <a:rPr sz="1950" b="1">
                <a:solidFill>
                  <a:srgbClr val="1F2329"/>
                </a:solidFill>
              </a:rPr>
              <a:t>项目管理人员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8AFA73-F4F8-46B6-90D4-3AF029840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19350"/>
            <a:ext cx="3905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3"/>
                </a:solidFill>
              </a:defRPr>
            </a:pPr>
            <a:r>
              <a:rPr sz="1350" b="0">
                <a:solidFill>
                  <a:srgbClr val="5F6673"/>
                </a:solidFill>
              </a:rPr>
              <a:t>检查和补充归档材料；处理初评或二评退回；材料齐全后提交。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A9A055-A7D5-42E4-BB01-25C2FE9D9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790700"/>
            <a:ext cx="4857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898CDD-6170-434A-AFEB-49EA8C828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38350"/>
            <a:ext cx="95250" cy="7239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D7B2F"/>
          </a:solidFill>
          <a:ln xmlns:a="http://schemas.openxmlformats.org/drawingml/2006/main" w="9525">
            <a:solidFill>
              <a:srgbClr val="ED7B2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148911-A2F7-4DDC-8167-ED1B83B0F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0193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F2329"/>
                </a:solidFill>
              </a:defRPr>
            </a:pPr>
            <a:r>
              <a:rPr sz="1950" b="1">
                <a:solidFill>
                  <a:srgbClr val="1F2329"/>
                </a:solidFill>
              </a:rPr>
              <a:t>初评管理员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41C5A4-2338-4DD8-88B1-6349B480A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19350"/>
            <a:ext cx="3905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3"/>
                </a:solidFill>
              </a:defRPr>
            </a:pPr>
            <a:r>
              <a:rPr sz="1350" b="0">
                <a:solidFill>
                  <a:srgbClr val="5F6673"/>
                </a:solidFill>
              </a:rPr>
              <a:t>接收归档材料；分配专家；判断初评通过或退回；确认二评整改。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BBB3E8-EF90-43E3-978A-F05F1C8C3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9950"/>
            <a:ext cx="4857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7C82CE-30C7-4B02-ADA2-A695D9A31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57600"/>
            <a:ext cx="95250" cy="7239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6339D8"/>
          </a:solidFill>
          <a:ln xmlns:a="http://schemas.openxmlformats.org/drawingml/2006/main" w="9525">
            <a:solidFill>
              <a:srgbClr val="6339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8B077E-1007-41BD-83E8-3AA73DEE9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38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F2329"/>
                </a:solidFill>
              </a:defRPr>
            </a:pPr>
            <a:r>
              <a:rPr sz="1950" b="1">
                <a:solidFill>
                  <a:srgbClr val="1F2329"/>
                </a:solidFill>
              </a:rPr>
              <a:t>二评管理员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C866D7-CA94-4816-8CB9-BDFC4FA6B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38600"/>
            <a:ext cx="3905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3"/>
                </a:solidFill>
              </a:defRPr>
            </a:pPr>
            <a:r>
              <a:rPr sz="1350" b="0">
                <a:solidFill>
                  <a:srgbClr val="5F6673"/>
                </a:solidFill>
              </a:rPr>
              <a:t>管理复评任务；看专家覆盖和体系分流；最终放行或退回。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6CD489-D541-4E4E-B7C8-5C792EA0A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09950"/>
            <a:ext cx="4857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3441B0-9DB7-4F56-B867-1AB157226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57600"/>
            <a:ext cx="95250" cy="7239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0875A"/>
          </a:solidFill>
          <a:ln xmlns:a="http://schemas.openxmlformats.org/drawingml/2006/main" w="9525">
            <a:solidFill>
              <a:srgbClr val="00875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EC33E7-3C47-4B87-A2C0-D1E35315A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638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F2329"/>
                </a:solidFill>
              </a:defRPr>
            </a:pPr>
            <a:r>
              <a:rPr sz="1950" b="1">
                <a:solidFill>
                  <a:srgbClr val="1F2329"/>
                </a:solidFill>
              </a:rPr>
              <a:t>评定专家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D1C77C-87C9-46B5-81E2-EEEF0302F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038600"/>
            <a:ext cx="3905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3"/>
                </a:solidFill>
              </a:defRPr>
            </a:pPr>
            <a:r>
              <a:rPr sz="1350" b="0">
                <a:solidFill>
                  <a:srgbClr val="5F6673"/>
                </a:solidFill>
              </a:rPr>
              <a:t>按授权体系审阅材料；预览文件；登记问题并提交结果。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F5CEF3-B909-4C2E-A9F3-2F2ABB5D8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43550"/>
            <a:ext cx="971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52D9"/>
                </a:solidFill>
              </a:defRPr>
            </a:pPr>
            <a:r>
              <a:rPr sz="1650" b="1">
                <a:solidFill>
                  <a:srgbClr val="0052D9"/>
                </a:solidFill>
              </a:rPr>
              <a:t>讲页面时按角色讲，不按文件名讲。这样开发知道谁触发动作，测试知道谁验证结果。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7A2FE0-BA69-4AEE-BEA2-DFF7E4385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A9099"/>
                </a:solidFill>
              </a:defRPr>
            </a:pPr>
            <a:r>
              <a:rPr sz="1050" b="0">
                <a:solidFill>
                  <a:srgbClr val="8A9099"/>
                </a:solidFill>
              </a:rPr>
              <a:t>体系认证项目讲解 / 04</a:t>
            </a:r>
          </a:p>
        </p:txBody>
      </p:sp>
    </p:spTree>
    <p:extLst>
      <p:ext uri="{BB962C8B-B14F-4D97-AF65-F5344CB8AC3E}">
        <p14:creationId xmlns:p14="http://schemas.microsoft.com/office/powerpoint/2010/main" val="172922482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CE909B-555C-49F6-B7F9-A73A1DBFE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52D9"/>
                </a:solidFill>
              </a:defRPr>
            </a:pPr>
            <a:r>
              <a:rPr sz="1200" b="1">
                <a:solidFill>
                  <a:srgbClr val="0052D9"/>
                </a:solidFill>
              </a:rPr>
              <a:t>材料数据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E864E0-8748-43A6-9837-C9E3849D1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329"/>
                </a:solidFill>
              </a:defRPr>
            </a:pPr>
            <a:r>
              <a:rPr sz="2850" b="1">
                <a:solidFill>
                  <a:srgbClr val="1F2329"/>
                </a:solidFill>
              </a:rPr>
              <a:t>材料口径只有一个：MSF11-20 的 48 项清单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72B9F5-5D32-4182-82D7-3075F0B50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74919B-3185-46F4-9D7C-3397D9B58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3143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202F93-6D3B-4C33-B1F5-0971A0838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71700"/>
            <a:ext cx="1905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0052D9"/>
                </a:solidFill>
              </a:defRPr>
            </a:pPr>
            <a:r>
              <a:rPr sz="5700" b="1">
                <a:solidFill>
                  <a:srgbClr val="0052D9"/>
                </a:solidFill>
              </a:rPr>
              <a:t>48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32CACD-26AC-428F-88D8-63CB5058B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289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F2329"/>
                </a:solidFill>
              </a:defRPr>
            </a:pPr>
            <a:r>
              <a:rPr sz="1950" b="1">
                <a:solidFill>
                  <a:srgbClr val="1F2329"/>
                </a:solidFill>
              </a:rPr>
              <a:t>项材料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3BCB49-EDB3-49E8-91EF-BC9EDDEFD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0045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3"/>
                </a:solidFill>
              </a:defRPr>
            </a:pPr>
            <a:r>
              <a:rPr sz="1500" b="0">
                <a:solidFill>
                  <a:srgbClr val="5F6673"/>
                </a:solidFill>
              </a:rPr>
              <a:t>权威数据源：materials-catalog.json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550B03-E10D-414A-99FB-577676B38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52600"/>
            <a:ext cx="6286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68E4BE-5448-49E5-9560-1D1ADE76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962150"/>
            <a:ext cx="114300" cy="304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052D9"/>
          </a:solidFill>
          <a:ln xmlns:a="http://schemas.openxmlformats.org/drawingml/2006/main" w="9525">
            <a:solidFill>
              <a:srgbClr val="0052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2CE4CD-2A86-4C3D-ABA5-15340110E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9431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2329"/>
                </a:solidFill>
              </a:defRPr>
            </a:pPr>
            <a:r>
              <a:rPr sz="1800" b="1">
                <a:solidFill>
                  <a:srgbClr val="1F2329"/>
                </a:solidFill>
              </a:rPr>
              <a:t>通用材料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5998DB-63CD-4240-854F-CAABAFB67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94310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52D9"/>
                </a:solidFill>
              </a:defRPr>
            </a:pPr>
            <a:r>
              <a:rPr sz="1800" b="1">
                <a:solidFill>
                  <a:srgbClr val="0052D9"/>
                </a:solidFill>
              </a:rPr>
              <a:t>32 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CE44E8-ECF8-45DF-92BC-60984E01C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43200"/>
            <a:ext cx="6286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2B6B04-8D97-4B4C-AB3C-9C158873A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952750"/>
            <a:ext cx="114300" cy="304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0875A"/>
          </a:solidFill>
          <a:ln xmlns:a="http://schemas.openxmlformats.org/drawingml/2006/main" w="9525">
            <a:solidFill>
              <a:srgbClr val="00875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590C95-DC78-4CFF-9635-52DBABD21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9337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2329"/>
                </a:solidFill>
              </a:defRPr>
            </a:pPr>
            <a:r>
              <a:rPr sz="1800" b="1">
                <a:solidFill>
                  <a:srgbClr val="1F2329"/>
                </a:solidFill>
              </a:rPr>
              <a:t>一阶段材料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220D55-EF57-45D3-8516-1963DCACC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93370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875A"/>
                </a:solidFill>
              </a:defRPr>
            </a:pPr>
            <a:r>
              <a:rPr sz="1800" b="1">
                <a:solidFill>
                  <a:srgbClr val="00875A"/>
                </a:solidFill>
              </a:rPr>
              <a:t>7 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763E8B-C2D7-4353-AA9A-21A91A07C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33800"/>
            <a:ext cx="6286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BAB453-BC16-4CDF-A441-5064B7883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943350"/>
            <a:ext cx="114300" cy="304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6339D8"/>
          </a:solidFill>
          <a:ln xmlns:a="http://schemas.openxmlformats.org/drawingml/2006/main" w="9525">
            <a:solidFill>
              <a:srgbClr val="6339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7ABC12-A4EE-4ADD-A28D-3C0435E7A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9243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2329"/>
                </a:solidFill>
              </a:defRPr>
            </a:pPr>
            <a:r>
              <a:rPr sz="1800" b="1">
                <a:solidFill>
                  <a:srgbClr val="1F2329"/>
                </a:solidFill>
              </a:rPr>
              <a:t>二阶段及其他审核材料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49661D-B850-4BCA-978B-C0C69B76B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92430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339D8"/>
                </a:solidFill>
              </a:defRPr>
            </a:pPr>
            <a:r>
              <a:rPr sz="1800" b="1">
                <a:solidFill>
                  <a:srgbClr val="6339D8"/>
                </a:solidFill>
              </a:rPr>
              <a:t>9 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15AADE-8001-4BCD-A424-CA4A6431C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52D9"/>
                </a:solidFill>
              </a:defRPr>
            </a:pPr>
            <a:r>
              <a:rPr sz="1575" b="1">
                <a:solidFill>
                  <a:srgbClr val="0052D9"/>
                </a:solidFill>
              </a:rPr>
              <a:t>开发注意：页面可以生成模拟文件，但材料名称、分类、排序、适用体系必须来自权威清单。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C7F89A-9FE5-4E7E-8688-77164978E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A9099"/>
                </a:solidFill>
              </a:defRPr>
            </a:pPr>
            <a:r>
              <a:rPr sz="1050" b="0">
                <a:solidFill>
                  <a:srgbClr val="8A9099"/>
                </a:solidFill>
              </a:rPr>
              <a:t>体系认证项目讲解 / 05</a:t>
            </a:r>
          </a:p>
        </p:txBody>
      </p:sp>
    </p:spTree>
    <p:extLst>
      <p:ext uri="{BB962C8B-B14F-4D97-AF65-F5344CB8AC3E}">
        <p14:creationId xmlns:p14="http://schemas.microsoft.com/office/powerpoint/2010/main" val="1652230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07408E-3749-421F-8F2E-9861A548E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52D9"/>
                </a:solidFill>
              </a:defRPr>
            </a:pPr>
            <a:r>
              <a:rPr sz="1200" b="1">
                <a:solidFill>
                  <a:srgbClr val="0052D9"/>
                </a:solidFill>
              </a:rPr>
              <a:t>关键业务口径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450305-A057-47D5-869F-FD3687AED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329"/>
                </a:solidFill>
              </a:defRPr>
            </a:pPr>
            <a:r>
              <a:rPr sz="2850" b="1">
                <a:solidFill>
                  <a:srgbClr val="1F2329"/>
                </a:solidFill>
              </a:rPr>
              <a:t>评定对象是材料清单项，具体文件只是证据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F6ABC0-CBC8-4601-A8E4-CD81DF2D4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D4E0B8-C237-4DE5-92AC-AE9C3592F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05000"/>
            <a:ext cx="4476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52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906B80-2CB2-4D7D-A393-E14CECD9E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479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52D9"/>
                </a:solidFill>
              </a:defRPr>
            </a:pPr>
            <a:r>
              <a:rPr sz="2100" b="1">
                <a:solidFill>
                  <a:srgbClr val="0052D9"/>
                </a:solidFill>
              </a:rPr>
              <a:t>材料清单项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E690C8-5ABE-4A21-991D-370E8B306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575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F2329"/>
                </a:solidFill>
              </a:defRPr>
            </a:pPr>
            <a:r>
              <a:rPr sz="2400" b="1">
                <a:solidFill>
                  <a:srgbClr val="1F2329"/>
                </a:solidFill>
              </a:rPr>
              <a:t>认证申请表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14C936-D13D-4140-98C2-F7778FB48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00450"/>
            <a:ext cx="333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673"/>
                </a:solidFill>
              </a:defRPr>
            </a:pPr>
            <a:r>
              <a:rPr sz="1575" b="0">
                <a:solidFill>
                  <a:srgbClr val="5F6673"/>
                </a:solidFill>
              </a:rPr>
              <a:t>问题、评定状态、退回原因都落在这里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5A6339-B109-4B50-B604-FB7C79A47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067050"/>
            <a:ext cx="76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8A9099"/>
                </a:solidFill>
              </a:defRPr>
            </a:pPr>
            <a:r>
              <a:rPr sz="3600" b="1">
                <a:solidFill>
                  <a:srgbClr val="8A9099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8C05C9-ED6D-4136-8FE9-5F88D1528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752600"/>
            <a:ext cx="4191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734744-AD43-4C22-BBF8-11C2708D5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9621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2329"/>
                </a:solidFill>
              </a:defRPr>
            </a:pPr>
            <a:r>
              <a:rPr sz="1650" b="1">
                <a:solidFill>
                  <a:srgbClr val="1F2329"/>
                </a:solidFill>
              </a:rPr>
              <a:t>认证申请表.pdf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CA885F-D804-4486-A1CB-796E6EAD4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3050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673"/>
                </a:solidFill>
              </a:defRPr>
            </a:pPr>
            <a:r>
              <a:rPr sz="1200" b="0">
                <a:solidFill>
                  <a:srgbClr val="5F6673"/>
                </a:solidFill>
              </a:rPr>
              <a:t>来源、上传时间、预览操作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4F9763-AEE0-49D5-B90B-5C4F6ADA5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876550"/>
            <a:ext cx="4191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6C61D9-F0FD-478C-9AB7-5538BD640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0861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2329"/>
                </a:solidFill>
              </a:defRPr>
            </a:pPr>
            <a:r>
              <a:rPr sz="1650" b="1">
                <a:solidFill>
                  <a:srgbClr val="1F2329"/>
                </a:solidFill>
              </a:rPr>
              <a:t>补充说明.docx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96BDB7-6DB8-4507-BEDC-85482136D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4290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673"/>
                </a:solidFill>
              </a:defRPr>
            </a:pPr>
            <a:r>
              <a:rPr sz="1200" b="0">
                <a:solidFill>
                  <a:srgbClr val="5F6673"/>
                </a:solidFill>
              </a:rPr>
              <a:t>作为材料项下的附件证据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8FCDBD-24A5-4156-A1AF-B7B5C2325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000500"/>
            <a:ext cx="4191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15107B-0654-4CC9-B2D2-6CE5B953A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2100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2329"/>
                </a:solidFill>
              </a:defRPr>
            </a:pPr>
            <a:r>
              <a:rPr sz="1650" b="1">
                <a:solidFill>
                  <a:srgbClr val="1F2329"/>
                </a:solidFill>
              </a:rPr>
              <a:t>历史转换记录.pdf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A44CF2-C432-4FC6-86F0-8496FA060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5529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673"/>
                </a:solidFill>
              </a:defRPr>
            </a:pPr>
            <a:r>
              <a:rPr sz="1200" b="0">
                <a:solidFill>
                  <a:srgbClr val="5F6673"/>
                </a:solidFill>
              </a:rPr>
              <a:t>可预览、可追溯，不单独给结论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87ED8F-AC6D-41E5-B916-437B6119C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6260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34D59"/>
                </a:solidFill>
              </a:defRPr>
            </a:pPr>
            <a:r>
              <a:rPr sz="1650" b="1">
                <a:solidFill>
                  <a:srgbClr val="E34D59"/>
                </a:solidFill>
              </a:rPr>
              <a:t>测试重点：文件明细表不应出现“评定状态”列；问题登记必须关联材料清单项。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99A29C-B77E-4F14-A446-9C1BF9F0A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A9099"/>
                </a:solidFill>
              </a:defRPr>
            </a:pPr>
            <a:r>
              <a:rPr sz="1050" b="0">
                <a:solidFill>
                  <a:srgbClr val="8A9099"/>
                </a:solidFill>
              </a:rPr>
              <a:t>体系认证项目讲解 / 06</a:t>
            </a:r>
          </a:p>
        </p:txBody>
      </p:sp>
    </p:spTree>
    <p:extLst>
      <p:ext uri="{BB962C8B-B14F-4D97-AF65-F5344CB8AC3E}">
        <p14:creationId xmlns:p14="http://schemas.microsoft.com/office/powerpoint/2010/main" val="915394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41B8AE-29C1-4F69-8BDE-0A89D5980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52D9"/>
                </a:solidFill>
              </a:defRPr>
            </a:pPr>
            <a:r>
              <a:rPr sz="1200" b="1">
                <a:solidFill>
                  <a:srgbClr val="0052D9"/>
                </a:solidFill>
              </a:rPr>
              <a:t>归档材料提交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E42DE1-F0E1-4B79-A475-EBB393039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329"/>
                </a:solidFill>
              </a:defRPr>
            </a:pPr>
            <a:r>
              <a:rPr sz="2850" b="1">
                <a:solidFill>
                  <a:srgbClr val="1F2329"/>
                </a:solidFill>
              </a:rPr>
              <a:t>归档提交页帮助项目管理人员判断能不能进初评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DBE82F-AEA9-426A-AC1D-D065C2CAE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F432DA-B1C8-4B7B-AA51-071052D8F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2381250" cy="34480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7E0663-96F5-42F8-B84A-8375609DD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002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2329"/>
                </a:solidFill>
              </a:defRPr>
            </a:pPr>
            <a:r>
              <a:rPr sz="1800" b="1">
                <a:solidFill>
                  <a:srgbClr val="1F2329"/>
                </a:solidFill>
              </a:rPr>
              <a:t>左侧材料导航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0F6548-3C3F-4E8D-A038-8B1504B3D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052D9"/>
          </a:solidFill>
          <a:ln xmlns:a="http://schemas.openxmlformats.org/drawingml/2006/main" w="9525">
            <a:solidFill>
              <a:srgbClr val="0052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72146E-1CD0-4692-B174-7907E302C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533650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329"/>
                </a:solidFill>
              </a:defRPr>
            </a:pPr>
            <a:r>
              <a:rPr sz="1350" b="0">
                <a:solidFill>
                  <a:srgbClr val="1F2329"/>
                </a:solidFill>
              </a:rPr>
              <a:t>Q/E/S/F 筛选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5EE839-C176-4447-A680-F19B11181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48000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052D9"/>
          </a:solidFill>
          <a:ln xmlns:a="http://schemas.openxmlformats.org/drawingml/2006/main" w="9525">
            <a:solidFill>
              <a:srgbClr val="0052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D405E1-98B3-4E78-9EB4-1637675CC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90850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329"/>
                </a:solidFill>
              </a:defRPr>
            </a:pPr>
            <a:r>
              <a:rPr sz="1350" b="0">
                <a:solidFill>
                  <a:srgbClr val="1F2329"/>
                </a:solidFill>
              </a:rPr>
              <a:t>搜索和快速筛选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09A0FF-2516-485D-B66F-E424BDB56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052D9"/>
          </a:solidFill>
          <a:ln xmlns:a="http://schemas.openxmlformats.org/drawingml/2006/main" w="9525">
            <a:solidFill>
              <a:srgbClr val="0052D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7E0049-7092-4580-AE53-1F3850458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48050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329"/>
                </a:solidFill>
              </a:defRPr>
            </a:pPr>
            <a:r>
              <a:rPr sz="1350" b="0">
                <a:solidFill>
                  <a:srgbClr val="1F2329"/>
                </a:solidFill>
              </a:rPr>
              <a:t>缺失/已带入状态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DC0EF9-3D3D-411E-BFEA-E5ED46EAB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695450"/>
            <a:ext cx="3905250" cy="3448050"/>
          </a:xfrm>
          <a:prstGeom xmlns:a="http://schemas.openxmlformats.org/drawingml/2006/main" prst="roundRect">
            <a:avLst>
              <a:gd name="adj" fmla="val 22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E231FA-41BE-4B11-B596-8D5A7C25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0002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2329"/>
                </a:solidFill>
              </a:defRPr>
            </a:pPr>
            <a:r>
              <a:rPr sz="1800" b="1">
                <a:solidFill>
                  <a:srgbClr val="1F2329"/>
                </a:solidFill>
              </a:rPr>
              <a:t>中间材料明细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A7C9D8-B0D9-4A05-BB89-75746742C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590800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052D9"/>
          </a:solidFill>
          <a:ln xmlns:a="http://schemas.openxmlformats.org/drawingml/2006/main" w="9525">
            <a:solidFill>
              <a:srgbClr val="0052D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F4AA9E-A9FE-49BB-9427-039DB9F99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533650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329"/>
                </a:solidFill>
              </a:defRPr>
            </a:pPr>
            <a:r>
              <a:rPr sz="1350" b="0">
                <a:solidFill>
                  <a:srgbClr val="1F2329"/>
                </a:solidFill>
              </a:rPr>
              <a:t>展示已有具体文件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34B7D4-0E15-4612-9889-14105DCA3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048000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052D9"/>
          </a:solidFill>
          <a:ln xmlns:a="http://schemas.openxmlformats.org/drawingml/2006/main" w="9525">
            <a:solidFill>
              <a:srgbClr val="0052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E629A9-0009-4918-A6A4-2AE4A5567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990850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329"/>
                </a:solidFill>
              </a:defRPr>
            </a:pPr>
            <a:r>
              <a:rPr sz="1350" b="0">
                <a:solidFill>
                  <a:srgbClr val="1F2329"/>
                </a:solidFill>
              </a:rPr>
              <a:t>本地上传或资料库选择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8020D0-132E-4C23-BBA9-A8CE92E19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505200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052D9"/>
          </a:solidFill>
          <a:ln xmlns:a="http://schemas.openxmlformats.org/drawingml/2006/main" w="9525">
            <a:solidFill>
              <a:srgbClr val="0052D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054525-DC37-486F-80F7-DAFDB5BEA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448050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329"/>
                </a:solidFill>
              </a:defRPr>
            </a:pPr>
            <a:r>
              <a:rPr sz="1350" b="0">
                <a:solidFill>
                  <a:srgbClr val="1F2329"/>
                </a:solidFill>
              </a:rPr>
              <a:t>空状态说明缺什么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1D9C8C-6168-4252-92BF-F7568AF9B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695450"/>
            <a:ext cx="3143250" cy="34480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FDF00E-659B-4846-A23A-2C360E84D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002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2329"/>
                </a:solidFill>
              </a:defRPr>
            </a:pPr>
            <a:r>
              <a:rPr sz="1800" b="1">
                <a:solidFill>
                  <a:srgbClr val="1F2329"/>
                </a:solidFill>
              </a:rPr>
              <a:t>右侧完整性检查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B77427-E549-4E50-AE76-14F67947C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90800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052D9"/>
          </a:solidFill>
          <a:ln xmlns:a="http://schemas.openxmlformats.org/drawingml/2006/main" w="9525">
            <a:solidFill>
              <a:srgbClr val="0052D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B194EC-BC74-4E43-A76C-11E9CDF4E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336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329"/>
                </a:solidFill>
              </a:defRPr>
            </a:pPr>
            <a:r>
              <a:rPr sz="1350" b="0">
                <a:solidFill>
                  <a:srgbClr val="1F2329"/>
                </a:solidFill>
              </a:rPr>
              <a:t>按体系展示进度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DB5D64-E805-463C-81D6-79FCFA4C6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48000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052D9"/>
          </a:solidFill>
          <a:ln xmlns:a="http://schemas.openxmlformats.org/drawingml/2006/main" w="9525">
            <a:solidFill>
              <a:srgbClr val="0052D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A2577C-C377-48E7-A329-A61444623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9908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329"/>
                </a:solidFill>
              </a:defRPr>
            </a:pPr>
            <a:r>
              <a:rPr sz="1350" b="0">
                <a:solidFill>
                  <a:srgbClr val="1F2329"/>
                </a:solidFill>
              </a:rPr>
              <a:t>主按钮禁用原因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A34B7D-F691-4057-9328-E647360D7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505200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052D9"/>
          </a:solidFill>
          <a:ln xmlns:a="http://schemas.openxmlformats.org/drawingml/2006/main" w="9525">
            <a:solidFill>
              <a:srgbClr val="0052D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A36F7F-30BC-470C-9758-9850C3315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480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329"/>
                </a:solidFill>
              </a:defRPr>
            </a:pPr>
            <a:r>
              <a:rPr sz="1350" b="0">
                <a:solidFill>
                  <a:srgbClr val="1F2329"/>
                </a:solidFill>
              </a:rPr>
              <a:t>齐全后提交初评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BD8838-B04C-4177-A19A-30ABE7F70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197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52D9"/>
                </a:solidFill>
              </a:defRPr>
            </a:pPr>
            <a:r>
              <a:rPr sz="1725" b="1">
                <a:solidFill>
                  <a:srgbClr val="0052D9"/>
                </a:solidFill>
              </a:rPr>
              <a:t>主按钮文案固定为“提交初次评定”。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0AAF04-A6F4-4719-AB9C-347A2ED34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A9099"/>
                </a:solidFill>
              </a:defRPr>
            </a:pPr>
            <a:r>
              <a:rPr sz="1050" b="0">
                <a:solidFill>
                  <a:srgbClr val="8A9099"/>
                </a:solidFill>
              </a:rPr>
              <a:t>体系认证项目讲解 / 07</a:t>
            </a:r>
          </a:p>
        </p:txBody>
      </p:sp>
    </p:spTree>
    <p:extLst>
      <p:ext uri="{BB962C8B-B14F-4D97-AF65-F5344CB8AC3E}">
        <p14:creationId xmlns:p14="http://schemas.microsoft.com/office/powerpoint/2010/main" val="91409317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4461BF-B0CC-418A-936B-A296FB96C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52D9"/>
                </a:solidFill>
              </a:defRPr>
            </a:pPr>
            <a:r>
              <a:rPr sz="1200" b="1">
                <a:solidFill>
                  <a:srgbClr val="0052D9"/>
                </a:solidFill>
              </a:rPr>
              <a:t>初评与专家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84DA9E-E49E-46DD-9F2E-41E2C5839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329"/>
                </a:solidFill>
              </a:defRPr>
            </a:pPr>
            <a:r>
              <a:rPr sz="2850" b="1">
                <a:solidFill>
                  <a:srgbClr val="1F2329"/>
                </a:solidFill>
              </a:rPr>
              <a:t>初次评定重点是专家覆盖、有效问题和通过条件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497A9C-18B4-44D6-90B5-29119F9FB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83F2D7-E16C-4F22-B2C8-546052F8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71650"/>
            <a:ext cx="3200400" cy="3124200"/>
          </a:xfrm>
          <a:prstGeom xmlns:a="http://schemas.openxmlformats.org/drawingml/2006/main" prst="roundRect">
            <a:avLst>
              <a:gd name="adj" fmla="val 24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F03B7C-2DAD-4066-91B5-EEC8507AF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14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2329"/>
                </a:solidFill>
              </a:defRPr>
            </a:pPr>
            <a:r>
              <a:rPr sz="1875" b="1">
                <a:solidFill>
                  <a:srgbClr val="1F2329"/>
                </a:solidFill>
              </a:rPr>
              <a:t>初评管理员看什么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5998E5-F403-4643-8DE3-567C2A2BC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00350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052D9"/>
          </a:solidFill>
          <a:ln xmlns:a="http://schemas.openxmlformats.org/drawingml/2006/main" w="9525">
            <a:solidFill>
              <a:srgbClr val="0052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FC84B8-DB4D-4A78-90B5-DD99F3718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7432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329"/>
                </a:solidFill>
              </a:defRPr>
            </a:pPr>
            <a:r>
              <a:rPr sz="1425" b="0">
                <a:solidFill>
                  <a:srgbClr val="1F2329"/>
                </a:solidFill>
              </a:rPr>
              <a:t>材料是否满足初评要求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395004-87E1-4DF9-A2C4-5C2CC2F3B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52800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0875A"/>
          </a:solidFill>
          <a:ln xmlns:a="http://schemas.openxmlformats.org/drawingml/2006/main" w="9525">
            <a:solidFill>
              <a:srgbClr val="00875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2BE131-30DC-48EE-86EE-BCCB1FB51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956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329"/>
                </a:solidFill>
              </a:defRPr>
            </a:pPr>
            <a:r>
              <a:rPr sz="1425" b="0">
                <a:solidFill>
                  <a:srgbClr val="1F2329"/>
                </a:solidFill>
              </a:rPr>
              <a:t>专家是否覆盖相关体系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00808C-BFA9-4412-9731-C7EE5DFD2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05250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D7B2F"/>
          </a:solidFill>
          <a:ln xmlns:a="http://schemas.openxmlformats.org/drawingml/2006/main" w="9525">
            <a:solidFill>
              <a:srgbClr val="ED7B2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390E5A-1A62-40E1-AFD2-8E65D4A5C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481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329"/>
                </a:solidFill>
              </a:defRPr>
            </a:pPr>
            <a:r>
              <a:rPr sz="1425" b="0">
                <a:solidFill>
                  <a:srgbClr val="1F2329"/>
                </a:solidFill>
              </a:rPr>
              <a:t>有效问题是否阻断通过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C1B996-CAD7-46FC-ADEF-2093A50D0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71650"/>
            <a:ext cx="3200400" cy="3124200"/>
          </a:xfrm>
          <a:prstGeom xmlns:a="http://schemas.openxmlformats.org/drawingml/2006/main" prst="roundRect">
            <a:avLst>
              <a:gd name="adj" fmla="val 24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8105EB-6575-43B3-8A18-E7E775979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114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2329"/>
                </a:solidFill>
              </a:defRPr>
            </a:pPr>
            <a:r>
              <a:rPr sz="1875" b="1">
                <a:solidFill>
                  <a:srgbClr val="1F2329"/>
                </a:solidFill>
              </a:rPr>
              <a:t>专家做什么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80CEE4-36DC-4B21-9798-B98CACD05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800350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052D9"/>
          </a:solidFill>
          <a:ln xmlns:a="http://schemas.openxmlformats.org/drawingml/2006/main" w="9525">
            <a:solidFill>
              <a:srgbClr val="0052D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B2505A-EB56-41D6-9E12-518C519A9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7432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329"/>
                </a:solidFill>
              </a:defRPr>
            </a:pPr>
            <a:r>
              <a:rPr sz="1425" b="0">
                <a:solidFill>
                  <a:srgbClr val="1F2329"/>
                </a:solidFill>
              </a:rPr>
              <a:t>按授权体系过滤材料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3D42C9-46D8-4DEF-83BB-8ADC8240E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352800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0875A"/>
          </a:solidFill>
          <a:ln xmlns:a="http://schemas.openxmlformats.org/drawingml/2006/main" w="9525">
            <a:solidFill>
              <a:srgbClr val="00875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0CEBCB-A31E-40E7-B031-515B09C2D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2956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329"/>
                </a:solidFill>
              </a:defRPr>
            </a:pPr>
            <a:r>
              <a:rPr sz="1425" b="0">
                <a:solidFill>
                  <a:srgbClr val="1F2329"/>
                </a:solidFill>
              </a:rPr>
              <a:t>预览具体文件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53207F-343B-4C76-8918-8CE33A285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905250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D7B2F"/>
          </a:solidFill>
          <a:ln xmlns:a="http://schemas.openxmlformats.org/drawingml/2006/main" w="9525">
            <a:solidFill>
              <a:srgbClr val="ED7B2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09D4DE-33AB-4E2D-B2CB-05146F62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8481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329"/>
                </a:solidFill>
              </a:defRPr>
            </a:pPr>
            <a:r>
              <a:rPr sz="1425" b="0">
                <a:solidFill>
                  <a:srgbClr val="1F2329"/>
                </a:solidFill>
              </a:rPr>
              <a:t>登记材料项级别问题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F2F212-5F17-480E-9D3E-42C85DA97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71650"/>
            <a:ext cx="3200400" cy="3124200"/>
          </a:xfrm>
          <a:prstGeom xmlns:a="http://schemas.openxmlformats.org/drawingml/2006/main" prst="roundRect">
            <a:avLst>
              <a:gd name="adj" fmla="val 24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AC51CE-DBF2-401C-BEF0-783BA468F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114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2329"/>
                </a:solidFill>
              </a:defRPr>
            </a:pPr>
            <a:r>
              <a:rPr sz="1875" b="1">
                <a:solidFill>
                  <a:srgbClr val="1F2329"/>
                </a:solidFill>
              </a:rPr>
              <a:t>通过/退回依据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04333E-B9D5-4DA0-B7BF-BD16E603E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00350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052D9"/>
          </a:solidFill>
          <a:ln xmlns:a="http://schemas.openxmlformats.org/drawingml/2006/main" w="9525">
            <a:solidFill>
              <a:srgbClr val="0052D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FE09A0-28F2-4029-9F2D-A9A4E795A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7432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329"/>
                </a:solidFill>
              </a:defRPr>
            </a:pPr>
            <a:r>
              <a:rPr sz="1425" b="0">
                <a:solidFill>
                  <a:srgbClr val="1F2329"/>
                </a:solidFill>
              </a:rPr>
              <a:t>覆盖完整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8C59AC-F5E8-4916-BB03-A4EF118B6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352800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0875A"/>
          </a:solidFill>
          <a:ln xmlns:a="http://schemas.openxmlformats.org/drawingml/2006/main" w="9525">
            <a:solidFill>
              <a:srgbClr val="00875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350CF7-8BE5-4B48-9E5D-D63FAE2BC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2956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329"/>
                </a:solidFill>
              </a:defRPr>
            </a:pPr>
            <a:r>
              <a:rPr sz="1425" b="0">
                <a:solidFill>
                  <a:srgbClr val="1F2329"/>
                </a:solidFill>
              </a:rPr>
              <a:t>关键问题已处理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99DCFE-A598-48B3-A79D-1AE113DE0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905250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D7B2F"/>
          </a:solidFill>
          <a:ln xmlns:a="http://schemas.openxmlformats.org/drawingml/2006/main" w="9525">
            <a:solidFill>
              <a:srgbClr val="ED7B2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B026B2-7525-4637-A284-85430BA2A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8481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329"/>
                </a:solidFill>
              </a:defRPr>
            </a:pPr>
            <a:r>
              <a:rPr sz="1425" b="0">
                <a:solidFill>
                  <a:srgbClr val="1F2329"/>
                </a:solidFill>
              </a:rPr>
              <a:t>退回原因明确可执行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4243A3-C150-4B40-9F90-0DC478246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626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52D9"/>
                </a:solidFill>
              </a:defRPr>
            </a:pPr>
            <a:r>
              <a:rPr sz="1650" b="1">
                <a:solidFill>
                  <a:srgbClr val="0052D9"/>
                </a:solidFill>
              </a:rPr>
              <a:t>专家不是替管理员做最终放行，而是提供按体系、按材料项的专业判断。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642467-72BF-43F3-9523-C2C77220B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A9099"/>
                </a:solidFill>
              </a:defRPr>
            </a:pPr>
            <a:r>
              <a:rPr sz="1050" b="0">
                <a:solidFill>
                  <a:srgbClr val="8A9099"/>
                </a:solidFill>
              </a:rPr>
              <a:t>体系认证项目讲解 / 08</a:t>
            </a:r>
          </a:p>
        </p:txBody>
      </p:sp>
    </p:spTree>
    <p:extLst>
      <p:ext uri="{BB962C8B-B14F-4D97-AF65-F5344CB8AC3E}">
        <p14:creationId xmlns:p14="http://schemas.microsoft.com/office/powerpoint/2010/main" val="170151825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50A102-6A04-4EA1-ADE0-FA340E979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52D9"/>
                </a:solidFill>
              </a:defRPr>
            </a:pPr>
            <a:r>
              <a:rPr sz="1200" b="1">
                <a:solidFill>
                  <a:srgbClr val="0052D9"/>
                </a:solidFill>
              </a:rPr>
              <a:t>二次评定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E366FB-1149-4C7C-BCBB-686E41E1F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329"/>
                </a:solidFill>
              </a:defRPr>
            </a:pPr>
            <a:r>
              <a:rPr sz="2850" b="1">
                <a:solidFill>
                  <a:srgbClr val="1F2329"/>
                </a:solidFill>
              </a:rPr>
              <a:t>二次评定是最终放行环节，需要按体系做分流判断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FD999B-5D55-4FBB-908D-C0C657A43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74EE34-B57E-4784-A1D1-EA8D1899B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47625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11DD8F-893E-4CEC-B264-42FF84FA0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145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A870"/>
                </a:solidFill>
              </a:defRPr>
            </a:pPr>
            <a:r>
              <a:rPr sz="1950" b="1">
                <a:solidFill>
                  <a:srgbClr val="00A870"/>
                </a:solidFill>
              </a:rPr>
              <a:t>可通过体系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B84672-8A2A-4908-BF42-D765B8890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24150"/>
            <a:ext cx="4572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F1FF"/>
          </a:solidFill>
          <a:ln xmlns:a="http://schemas.openxmlformats.org/drawingml/2006/main" w="9525">
            <a:solidFill>
              <a:srgbClr val="0052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9B648C-9B87-4DCF-A989-4D7A05ACB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527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52D9"/>
                </a:solidFill>
              </a:defRPr>
            </a:pPr>
            <a:r>
              <a:rPr sz="1200" b="1">
                <a:solidFill>
                  <a:srgbClr val="0052D9"/>
                </a:solidFill>
              </a:rPr>
              <a:t>Q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EB3800-81E5-4BD7-902D-3F78D18D2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724150"/>
            <a:ext cx="4572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6F7F1"/>
          </a:solidFill>
          <a:ln xmlns:a="http://schemas.openxmlformats.org/drawingml/2006/main" w="9525">
            <a:solidFill>
              <a:srgbClr val="00875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63617C-C6C9-4535-AE4B-A3005AA5D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7527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875A"/>
                </a:solidFill>
              </a:defRPr>
            </a:pPr>
            <a:r>
              <a:rPr sz="1200" b="1">
                <a:solidFill>
                  <a:srgbClr val="00875A"/>
                </a:solidFill>
              </a:rPr>
              <a:t>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24C425-3999-4C1D-A2F5-EE6B8346D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76600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3"/>
                </a:solidFill>
              </a:defRPr>
            </a:pPr>
            <a:r>
              <a:rPr sz="1500" b="0">
                <a:solidFill>
                  <a:srgbClr val="5F6673"/>
                </a:solidFill>
              </a:rPr>
              <a:t>专家覆盖完整，问题已清理，可进入二评通过候选。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322E67-A8BE-4315-9A93-F6E37E00C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52600"/>
            <a:ext cx="47625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72B361-DD1A-41DD-831E-5D930B794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1145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34D59"/>
                </a:solidFill>
              </a:defRPr>
            </a:pPr>
            <a:r>
              <a:rPr sz="1950" b="1">
                <a:solidFill>
                  <a:srgbClr val="E34D59"/>
                </a:solidFill>
              </a:rPr>
              <a:t>需退回体系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9A96F7-3DFF-4188-8565-DFDEF9C82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724150"/>
            <a:ext cx="4572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3E5"/>
          </a:solidFill>
          <a:ln xmlns:a="http://schemas.openxmlformats.org/drawingml/2006/main" w="9525">
            <a:solidFill>
              <a:srgbClr val="C46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BFD26E-E01C-494F-8A9D-B815FCB51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7527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46000"/>
                </a:solidFill>
              </a:defRPr>
            </a:pPr>
            <a:r>
              <a:rPr sz="1200" b="1">
                <a:solidFill>
                  <a:srgbClr val="C46000"/>
                </a:solidFill>
              </a:rPr>
              <a:t>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B598BF-C2D6-441B-B932-746AFD34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724150"/>
            <a:ext cx="4572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1EDFF"/>
          </a:solidFill>
          <a:ln xmlns:a="http://schemas.openxmlformats.org/drawingml/2006/main" w="9525">
            <a:solidFill>
              <a:srgbClr val="6339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44E937-C721-4981-88B7-00A3D7691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7527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339D8"/>
                </a:solidFill>
              </a:defRPr>
            </a:pPr>
            <a:r>
              <a:rPr sz="1200" b="1">
                <a:solidFill>
                  <a:srgbClr val="6339D8"/>
                </a:solidFill>
              </a:rPr>
              <a:t>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AFFA5D-F085-449D-B144-0E602DD8A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276600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3"/>
                </a:solidFill>
              </a:defRPr>
            </a:pPr>
            <a:r>
              <a:rPr sz="1500" b="0">
                <a:solidFill>
                  <a:srgbClr val="5F6673"/>
                </a:solidFill>
              </a:rPr>
              <a:t>存在有效问题或材料整改不充分，需要明确退回原因。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4FD9B7-2FD0-4D4E-BF2B-089C95CA7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6260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339D8"/>
                </a:solidFill>
              </a:defRPr>
            </a:pPr>
            <a:r>
              <a:rPr sz="1650" b="1">
                <a:solidFill>
                  <a:srgbClr val="6339D8"/>
                </a:solidFill>
              </a:rPr>
              <a:t>二评通过后任务已完结；二评退回后项目管理人员补充材料，再进入“二评整改待初评确认”。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87CA61-FBC6-48F2-B7A6-B8A1BB780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A9099"/>
                </a:solidFill>
              </a:defRPr>
            </a:pPr>
            <a:r>
              <a:rPr sz="1050" b="0">
                <a:solidFill>
                  <a:srgbClr val="8A9099"/>
                </a:solidFill>
              </a:rPr>
              <a:t>体系认证项目讲解 / 09</a:t>
            </a:r>
          </a:p>
        </p:txBody>
      </p:sp>
    </p:spTree>
    <p:extLst>
      <p:ext uri="{BB962C8B-B14F-4D97-AF65-F5344CB8AC3E}">
        <p14:creationId xmlns:p14="http://schemas.microsoft.com/office/powerpoint/2010/main" val="71774462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7B0C6E3-F14F-47CA-AEEE-AE0CCEB1D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52D9"/>
                </a:solidFill>
              </a:defRPr>
            </a:pPr>
            <a:r>
              <a:rPr sz="1200" b="1">
                <a:solidFill>
                  <a:srgbClr val="0052D9"/>
                </a:solidFill>
              </a:rPr>
              <a:t>任务状态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0643B9-F62D-41D8-9C42-63EAD449F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329"/>
                </a:solidFill>
              </a:defRPr>
            </a:pPr>
            <a:r>
              <a:rPr sz="2850" b="1">
                <a:solidFill>
                  <a:srgbClr val="1F2329"/>
                </a:solidFill>
              </a:rPr>
              <a:t>状态流转是开发实现和测试验收的共同主线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F2A580-6334-4716-8EAA-01927A83A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825E2B-5261-49EE-BA47-769A86479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23050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E152E5-1729-4A51-891D-C60556B68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621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2329"/>
                </a:solidFill>
              </a:defRPr>
            </a:pPr>
            <a:r>
              <a:rPr sz="1650" b="1">
                <a:solidFill>
                  <a:srgbClr val="1F2329"/>
                </a:solidFill>
              </a:rPr>
              <a:t>草稿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F9224A-E5D4-4C2B-A6F7-58BCBD598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622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673"/>
                </a:solidFill>
              </a:defRPr>
            </a:pPr>
            <a:r>
              <a:rPr sz="1275" b="0">
                <a:solidFill>
                  <a:srgbClr val="5F6673"/>
                </a:solidFill>
              </a:rPr>
              <a:t>材料未齐全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1F40A8-00A0-4B2F-88B2-52717F735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52600"/>
            <a:ext cx="23050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E57C9D-8484-4AC5-A96D-E81C2B5BC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9621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2329"/>
                </a:solidFill>
              </a:defRPr>
            </a:pPr>
            <a:r>
              <a:rPr sz="1650" b="1">
                <a:solidFill>
                  <a:srgbClr val="1F2329"/>
                </a:solidFill>
              </a:rPr>
              <a:t>待提交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A9D7F7-A97D-4D3F-96E6-50A162F10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3622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673"/>
                </a:solidFill>
              </a:defRPr>
            </a:pPr>
            <a:r>
              <a:rPr sz="1275" b="0">
                <a:solidFill>
                  <a:srgbClr val="5F6673"/>
                </a:solidFill>
              </a:rPr>
              <a:t>必填材料齐全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117B93-4441-45B1-BB61-3897A8387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52600"/>
            <a:ext cx="23050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0CD319-7D36-479C-B16F-F539B8B38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621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2329"/>
                </a:solidFill>
              </a:defRPr>
            </a:pPr>
            <a:r>
              <a:rPr sz="1650" b="1">
                <a:solidFill>
                  <a:srgbClr val="1F2329"/>
                </a:solidFill>
              </a:rPr>
              <a:t>初次评定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78C892-9B06-4201-9DBD-59A0D1581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622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673"/>
                </a:solidFill>
              </a:defRPr>
            </a:pPr>
            <a:r>
              <a:rPr sz="1275" b="0">
                <a:solidFill>
                  <a:srgbClr val="5F6673"/>
                </a:solidFill>
              </a:rPr>
              <a:t>等待初评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51312D-9E70-4B95-AEBF-A23F40E98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752600"/>
            <a:ext cx="23050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AF6B6B-04A7-4DA5-A616-912703940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9621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2329"/>
                </a:solidFill>
              </a:defRPr>
            </a:pPr>
            <a:r>
              <a:rPr sz="1650" b="1">
                <a:solidFill>
                  <a:srgbClr val="1F2329"/>
                </a:solidFill>
              </a:rPr>
              <a:t>初次评定退回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8BC292-792E-412C-9E2F-9B1E279FC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3622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673"/>
                </a:solidFill>
              </a:defRPr>
            </a:pPr>
            <a:r>
              <a:rPr sz="1275" b="0">
                <a:solidFill>
                  <a:srgbClr val="5F6673"/>
                </a:solidFill>
              </a:rPr>
              <a:t>补充后回初评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E72977-0E02-42E6-B2FF-CAC142C1E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23050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B5B555-C6D5-496E-BC79-75E77C544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576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2329"/>
                </a:solidFill>
              </a:defRPr>
            </a:pPr>
            <a:r>
              <a:rPr sz="1650" b="1">
                <a:solidFill>
                  <a:srgbClr val="1F2329"/>
                </a:solidFill>
              </a:rPr>
              <a:t>二次评定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50B50F-AD94-48AB-BA5E-C3B860A2F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576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673"/>
                </a:solidFill>
              </a:defRPr>
            </a:pPr>
            <a:r>
              <a:rPr sz="1275" b="0">
                <a:solidFill>
                  <a:srgbClr val="5F6673"/>
                </a:solidFill>
              </a:rPr>
              <a:t>等待复评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760ACD-6379-4C0A-A069-A3CC10187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448050"/>
            <a:ext cx="23050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0F970C-E70C-4B44-A541-E124B4F4B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576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2329"/>
                </a:solidFill>
              </a:defRPr>
            </a:pPr>
            <a:r>
              <a:rPr sz="1650" b="1">
                <a:solidFill>
                  <a:srgbClr val="1F2329"/>
                </a:solidFill>
              </a:rPr>
              <a:t>二次评定退回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F82F3A-1F8A-4472-AB4E-26463AE3C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0576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673"/>
                </a:solidFill>
              </a:defRPr>
            </a:pPr>
            <a:r>
              <a:rPr sz="1275" b="0">
                <a:solidFill>
                  <a:srgbClr val="5F6673"/>
                </a:solidFill>
              </a:rPr>
              <a:t>补充整改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7D32C7-145D-42A5-A666-3870FFAF1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448050"/>
            <a:ext cx="23050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4076DE-03FF-49B7-B55D-71717F88D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576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2329"/>
                </a:solidFill>
              </a:defRPr>
            </a:pPr>
            <a:r>
              <a:rPr sz="1650" b="1">
                <a:solidFill>
                  <a:srgbClr val="1F2329"/>
                </a:solidFill>
              </a:rPr>
              <a:t>二评整改待初评确认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5B994A-9B0F-4ED9-87B8-7171DD3CA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576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673"/>
                </a:solidFill>
              </a:defRPr>
            </a:pPr>
            <a:r>
              <a:rPr sz="1275" b="0">
                <a:solidFill>
                  <a:srgbClr val="5F6673"/>
                </a:solidFill>
              </a:rPr>
              <a:t>初评管理员确认整改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7BEFB4-85B6-418F-A85C-94B4718F1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448050"/>
            <a:ext cx="23050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A87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7682DF-0F61-48AE-9DBA-A44636FCF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6576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A870"/>
                </a:solidFill>
              </a:defRPr>
            </a:pPr>
            <a:r>
              <a:rPr sz="1650" b="1">
                <a:solidFill>
                  <a:srgbClr val="00A870"/>
                </a:solidFill>
              </a:rPr>
              <a:t>已完结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AED352-93AF-4D35-9240-2D5A755DA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0576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673"/>
                </a:solidFill>
              </a:defRPr>
            </a:pPr>
            <a:r>
              <a:rPr sz="1275" b="0">
                <a:solidFill>
                  <a:srgbClr val="5F6673"/>
                </a:solidFill>
              </a:rPr>
              <a:t>终态只读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3466C9-DF62-4460-A2A6-F33DBF209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52D9"/>
                </a:solidFill>
              </a:defRPr>
            </a:pPr>
            <a:r>
              <a:rPr sz="1650" b="1">
                <a:solidFill>
                  <a:srgbClr val="0052D9"/>
                </a:solidFill>
              </a:rPr>
              <a:t>验收时不要只看页面跳转，要看状态、按钮、只读权限和退回路径是否一致。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DA67268-402D-4DB0-91D8-129D1F2BD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A9099"/>
                </a:solidFill>
              </a:defRPr>
            </a:pPr>
            <a:r>
              <a:rPr sz="1050" b="0">
                <a:solidFill>
                  <a:srgbClr val="8A9099"/>
                </a:solidFill>
              </a:rPr>
              <a:t>体系认证项目讲解 / 10</a:t>
            </a:r>
          </a:p>
        </p:txBody>
      </p:sp>
    </p:spTree>
    <p:extLst>
      <p:ext uri="{BB962C8B-B14F-4D97-AF65-F5344CB8AC3E}">
        <p14:creationId xmlns:p14="http://schemas.microsoft.com/office/powerpoint/2010/main" val="203177738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81C535-E97B-454C-9D7E-118D714A7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52D9"/>
                </a:solidFill>
              </a:defRPr>
            </a:pPr>
            <a:r>
              <a:rPr sz="1200" b="1">
                <a:solidFill>
                  <a:srgbClr val="0052D9"/>
                </a:solidFill>
              </a:rPr>
              <a:t>开发关注点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EE48C5-1B00-42F2-ACE2-751694AC5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329"/>
                </a:solidFill>
              </a:defRPr>
            </a:pPr>
            <a:r>
              <a:rPr sz="2850" b="1">
                <a:solidFill>
                  <a:srgbClr val="1F2329"/>
                </a:solidFill>
              </a:rPr>
              <a:t>开发实现要守住四条底线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042084-D005-480C-A058-EFDAF16C6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F024CB-0598-4305-AFE3-7B30F59D1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10287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EE80AB-1A5C-4C2B-9AFB-03E8F05C9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669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52D9"/>
                </a:solidFill>
              </a:defRPr>
            </a:pPr>
            <a:r>
              <a:rPr sz="1950" b="1">
                <a:solidFill>
                  <a:srgbClr val="0052D9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7D3A31-BE10-493F-B7FC-0EC27BC11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8669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2329"/>
                </a:solidFill>
              </a:defRPr>
            </a:pPr>
            <a:r>
              <a:rPr sz="1800" b="1">
                <a:solidFill>
                  <a:srgbClr val="1F2329"/>
                </a:solidFill>
              </a:rPr>
              <a:t>材料数据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0D676E-25C8-46BB-B774-8AC3B7C5E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8859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3"/>
                </a:solidFill>
              </a:defRPr>
            </a:pPr>
            <a:r>
              <a:rPr sz="1500" b="0">
                <a:solidFill>
                  <a:srgbClr val="5F6673"/>
                </a:solidFill>
              </a:rPr>
              <a:t>只从 materials-catalog.json 取材料清单，保持 48 项口径。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F378AC-5257-4FE3-90C4-06EDE3B0C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28900"/>
            <a:ext cx="10287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E858C2-D2ED-4A1C-B6D0-5626BB630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0035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52D9"/>
                </a:solidFill>
              </a:defRPr>
            </a:pPr>
            <a:r>
              <a:rPr sz="1950" b="1">
                <a:solidFill>
                  <a:srgbClr val="0052D9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EC02BC-48B2-4B7A-8E75-5492D73CF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8003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2329"/>
                </a:solidFill>
              </a:defRPr>
            </a:pPr>
            <a:r>
              <a:rPr sz="1800" b="1">
                <a:solidFill>
                  <a:srgbClr val="1F2329"/>
                </a:solidFill>
              </a:rPr>
              <a:t>状态机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D075A0-C6FE-4355-85C9-AD0443042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194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3"/>
                </a:solidFill>
              </a:defRPr>
            </a:pPr>
            <a:r>
              <a:rPr sz="1500" b="0">
                <a:solidFill>
                  <a:srgbClr val="5F6673"/>
                </a:solidFill>
              </a:rPr>
              <a:t>提交、退回、整改确认、二评通过必须按业务状态流转。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7F1D8A-364E-43DA-8399-2D26498B7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62350"/>
            <a:ext cx="10287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75BBDA-3674-4223-BB92-37F29E0EE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338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52D9"/>
                </a:solidFill>
              </a:defRPr>
            </a:pPr>
            <a:r>
              <a:rPr sz="1950" b="1">
                <a:solidFill>
                  <a:srgbClr val="0052D9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59EABD-1B0D-419D-A258-395CAC712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7338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2329"/>
                </a:solidFill>
              </a:defRPr>
            </a:pPr>
            <a:r>
              <a:rPr sz="1800" b="1">
                <a:solidFill>
                  <a:srgbClr val="1F2329"/>
                </a:solidFill>
              </a:rPr>
              <a:t>组件口径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0A04F4-C853-44B2-A060-6865394FE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7528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3"/>
                </a:solidFill>
              </a:defRPr>
            </a:pPr>
            <a:r>
              <a:rPr sz="1500" b="0">
                <a:solidFill>
                  <a:srgbClr val="5F6673"/>
                </a:solidFill>
              </a:rPr>
              <a:t>顶部信息、左侧材料树、中间明细、右侧控制台保持统一。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B6E067-7356-460E-A74D-1CA8CD59C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10287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03FE19-EDB1-42B4-BB11-8108069AF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6725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52D9"/>
                </a:solidFill>
              </a:defRPr>
            </a:pPr>
            <a:r>
              <a:rPr sz="1950" b="1">
                <a:solidFill>
                  <a:srgbClr val="0052D9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286E2F-8128-4D1A-970D-C2B15CEC0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6672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2329"/>
                </a:solidFill>
              </a:defRPr>
            </a:pPr>
            <a:r>
              <a:rPr sz="1800" b="1">
                <a:solidFill>
                  <a:srgbClr val="1F2329"/>
                </a:solidFill>
              </a:rPr>
              <a:t>交互反馈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0577C0-A362-4AB2-B8F7-56027BDE2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6863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3"/>
                </a:solidFill>
              </a:defRPr>
            </a:pPr>
            <a:r>
              <a:rPr sz="1500" b="0">
                <a:solidFill>
                  <a:srgbClr val="5F6673"/>
                </a:solidFill>
              </a:rPr>
              <a:t>不用浏览器默认 alert/confirm；禁用按钮说明原因。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5FC335-94F4-47C7-A788-368DD129F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A9099"/>
                </a:solidFill>
              </a:defRPr>
            </a:pPr>
            <a:r>
              <a:rPr sz="1050" b="0">
                <a:solidFill>
                  <a:srgbClr val="8A9099"/>
                </a:solidFill>
              </a:rPr>
              <a:t>体系认证项目讲解 / 11</a:t>
            </a:r>
          </a:p>
        </p:txBody>
      </p:sp>
    </p:spTree>
    <p:extLst>
      <p:ext uri="{BB962C8B-B14F-4D97-AF65-F5344CB8AC3E}">
        <p14:creationId xmlns:p14="http://schemas.microsoft.com/office/powerpoint/2010/main" val="166746915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7423E1-21C9-423E-9BCE-6B6D51207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52D9"/>
                </a:solidFill>
              </a:defRPr>
            </a:pPr>
            <a:r>
              <a:rPr sz="1200" b="1">
                <a:solidFill>
                  <a:srgbClr val="0052D9"/>
                </a:solidFill>
              </a:rPr>
              <a:t>测试关注点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71BB6D-B099-4135-81D1-15EEEC4B7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329"/>
                </a:solidFill>
              </a:defRPr>
            </a:pPr>
            <a:r>
              <a:rPr sz="2850" b="1">
                <a:solidFill>
                  <a:srgbClr val="1F2329"/>
                </a:solidFill>
              </a:rPr>
              <a:t>测试要围绕业务规则设计用例，而不只是点按钮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0F3B35-77E3-41AB-8209-9B38FBAE9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BD12F0-D5B7-41CA-9B52-13043F805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38300"/>
            <a:ext cx="4857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8B9B41-7313-4DB8-A632-538A74682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52D9"/>
                </a:solidFill>
              </a:defRPr>
            </a:pPr>
            <a:r>
              <a:rPr sz="1800" b="1">
                <a:solidFill>
                  <a:srgbClr val="0052D9"/>
                </a:solidFill>
              </a:rPr>
              <a:t>完整性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6F50C6-D8B4-44CA-AC33-913829288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82880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3"/>
                </a:solidFill>
              </a:defRPr>
            </a:pPr>
            <a:r>
              <a:rPr sz="1350" b="0">
                <a:solidFill>
                  <a:srgbClr val="5F6673"/>
                </a:solidFill>
              </a:rPr>
              <a:t>缺失不可提交；齐全才启用；缺失项仍要展示。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E1E805-228A-4033-BFD5-731A6F7EE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638300"/>
            <a:ext cx="4857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86A696-2E40-4729-8E54-2FDF3EB27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8097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52D9"/>
                </a:solidFill>
              </a:defRPr>
            </a:pPr>
            <a:r>
              <a:rPr sz="1800" b="1">
                <a:solidFill>
                  <a:srgbClr val="0052D9"/>
                </a:solidFill>
              </a:rPr>
              <a:t>筛选联动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50E0D8-80A3-44C2-B747-C3F11998C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82880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3"/>
                </a:solidFill>
              </a:defRPr>
            </a:pPr>
            <a:r>
              <a:rPr sz="1350" b="0">
                <a:solidFill>
                  <a:srgbClr val="5F6673"/>
                </a:solidFill>
              </a:rPr>
              <a:t>体系、搜索、仅看缺失、已带入要同步影响左右区域。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7E3588-F4D1-44FA-AAF2-8E184C1D1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38450"/>
            <a:ext cx="4857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98899B-5061-4E08-8A83-744272E87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099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52D9"/>
                </a:solidFill>
              </a:defRPr>
            </a:pPr>
            <a:r>
              <a:rPr sz="1800" b="1">
                <a:solidFill>
                  <a:srgbClr val="0052D9"/>
                </a:solidFill>
              </a:rPr>
              <a:t>状态流转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D3701C-4467-4EE4-AEBE-23E0915EC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02895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3"/>
                </a:solidFill>
              </a:defRPr>
            </a:pPr>
            <a:r>
              <a:rPr sz="1350" b="0">
                <a:solidFill>
                  <a:srgbClr val="5F6673"/>
                </a:solidFill>
              </a:rPr>
              <a:t>初评退回、二评退回、整改确认、已完结只读都要覆盖。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928A68-3914-45C8-BE56-172B9453F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838450"/>
            <a:ext cx="4857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A473B5-CFC8-4373-B854-9C5F1A519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0099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52D9"/>
                </a:solidFill>
              </a:defRPr>
            </a:pPr>
            <a:r>
              <a:rPr sz="1800" b="1">
                <a:solidFill>
                  <a:srgbClr val="0052D9"/>
                </a:solidFill>
              </a:rPr>
              <a:t>问题登记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415D9E-DC46-488D-9435-2FF085AC5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02895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3"/>
                </a:solidFill>
              </a:defRPr>
            </a:pPr>
            <a:r>
              <a:rPr sz="1350" b="0">
                <a:solidFill>
                  <a:srgbClr val="5F6673"/>
                </a:solidFill>
              </a:rPr>
              <a:t>问题关联材料项；具体文件不承载评定结论。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632557-37D7-4637-A91A-CB6CECE6B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38600"/>
            <a:ext cx="102489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BD10BF-3BE4-43DB-988F-62B9DBEA7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100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34D59"/>
                </a:solidFill>
              </a:defRPr>
            </a:pPr>
            <a:r>
              <a:rPr sz="1800" b="1">
                <a:solidFill>
                  <a:srgbClr val="E34D59"/>
                </a:solidFill>
              </a:rPr>
              <a:t>静态口径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53CF27-98F0-402E-B5AA-403D2B31A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229100"/>
            <a:ext cx="8248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3"/>
                </a:solidFill>
              </a:defRPr>
            </a:pPr>
            <a:r>
              <a:rPr sz="1350" b="0">
                <a:solidFill>
                  <a:srgbClr val="5F6673"/>
                </a:solidFill>
              </a:rPr>
              <a:t>无 IT 默认体系；无错误材料数量；无默认弹窗。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8896BB-DABE-4CF2-84BF-07C07B5AE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A9099"/>
                </a:solidFill>
              </a:defRPr>
            </a:pPr>
            <a:r>
              <a:rPr sz="1050" b="0">
                <a:solidFill>
                  <a:srgbClr val="8A9099"/>
                </a:solidFill>
              </a:rPr>
              <a:t>体系认证项目讲解 / 12</a:t>
            </a:r>
          </a:p>
        </p:txBody>
      </p:sp>
    </p:spTree>
    <p:extLst>
      <p:ext uri="{BB962C8B-B14F-4D97-AF65-F5344CB8AC3E}">
        <p14:creationId xmlns:p14="http://schemas.microsoft.com/office/powerpoint/2010/main" val="25105744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793515-642C-46D2-8530-EECE936F8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52D9"/>
                </a:solidFill>
              </a:defRPr>
            </a:pPr>
            <a:r>
              <a:rPr sz="1200" b="1">
                <a:solidFill>
                  <a:srgbClr val="0052D9"/>
                </a:solidFill>
              </a:rPr>
              <a:t>收束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5C70FC-0FA4-4EB6-8395-7167EB4D4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329"/>
                </a:solidFill>
              </a:defRPr>
            </a:pPr>
            <a:r>
              <a:rPr sz="2850" b="1">
                <a:solidFill>
                  <a:srgbClr val="1F2329"/>
                </a:solidFill>
              </a:rPr>
              <a:t>统一口径后，开发和测试才能对齐同一个目标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269D3F-1A45-49E9-9334-41487F078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063F2F-EC6A-4F12-BE97-F9DE9BC09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52D9"/>
                </a:solidFill>
              </a:defRPr>
            </a:pPr>
            <a:r>
              <a:rPr sz="2100" b="1">
                <a:solidFill>
                  <a:srgbClr val="0052D9"/>
                </a:solidFill>
              </a:rPr>
              <a:t>一句话记住这个项目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3254FC-7B90-4642-992B-89F6147EF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0300"/>
            <a:ext cx="89535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227F5B-DF27-4167-B4E8-DD6446F70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724150"/>
            <a:ext cx="8191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F2329"/>
                </a:solidFill>
              </a:defRPr>
            </a:pPr>
            <a:r>
              <a:rPr sz="2325" b="1">
                <a:solidFill>
                  <a:srgbClr val="1F2329"/>
                </a:solidFill>
              </a:rPr>
              <a:t>用 MSF11-20 的 48 项材料清单，把 Q/E/S/F 四体系项目从归档、初评、专家评审、二评到完结的判断过程标准化。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5A625C-3147-4F56-8A10-07D24451C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24400"/>
            <a:ext cx="904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F6673"/>
                </a:solidFill>
              </a:defRPr>
            </a:pPr>
            <a:r>
              <a:rPr sz="1800" b="1">
                <a:solidFill>
                  <a:srgbClr val="5F6673"/>
                </a:solidFill>
              </a:rPr>
              <a:t>后续讨论页面、接口、测试用例，都回到三个问题：谁操作、看什么、状态怎么变。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3FDF51-C697-4808-8587-2002AF0BA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A9099"/>
                </a:solidFill>
              </a:defRPr>
            </a:pPr>
            <a:r>
              <a:rPr sz="1050" b="0">
                <a:solidFill>
                  <a:srgbClr val="8A9099"/>
                </a:solidFill>
              </a:rPr>
              <a:t>体系认证项目讲解 / 13</a:t>
            </a:r>
          </a:p>
        </p:txBody>
      </p:sp>
    </p:spTree>
    <p:extLst>
      <p:ext uri="{BB962C8B-B14F-4D97-AF65-F5344CB8AC3E}">
        <p14:creationId xmlns:p14="http://schemas.microsoft.com/office/powerpoint/2010/main" val="14354632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2026-07-16T15:47:58.3490000Z</dcterms:created>
  <dcterms:modified xsi:type="dcterms:W3CDTF">2026-07-16T15:47:58.3490000Z</dcterms:modified>
</coreProperties>
</file>